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Pozdrav investitorjev in predstavitev ekipe (1 min).
 • Poudari: 11 tekmencev v 3 kategorijah, 100+ funkcij v matriki.
 • Vodilni naglas: 4× ceneje od Toast, 46-stranaliza podpira trditev.
 • Napoved trajanja: ~25 minut predstavitve + 15 minut Q&amp;A.
 • Cilj: odobritev 150k EUR investicije za 12 mesecev.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Hitro prehod skozi 6 poglavij — poudari, da je agenda razdeljena v analizo in akcijo.
 • Povej, da bo Q&amp;A na koncu, naj shranjujejo vprašanja.
 • Poudari: zadnje poglavje (Roadmap &amp; investicija) je ključno za odločitev.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Trg 18,7 Mrd USD — poudari, da je slovenski trg (25k restavracij) dovolj SOM za 12-mesečni cilj.
 • Cloud-first (87 %) pomeni, da smo arhitekturno na pravi strani trenda.
 • FURS je ključna regulatorna ovira za globalne igralce — to je naš naravni vlak.
 • AI napovedi (64 %) so P2 prioriteta, ne takojšnja.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Poudari multi-tenant arhitekturo — to je osnova za SaaS model in white-label.
 • FURS certifikat je edinstven — noben globalni tekmec ga nima.
 • A++ varnost pomeni nič kritičnih ranljivosti v avditu.
 • Tech stack (Next.js 16, Prisma, Neon) je modernejsi od vseh SI tekmencev.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Poudari: 8 od 8 globalnih tekmovalcev nima FURS — to je naš naravni vlak.
 • Slovenski tekmecci s FURS so zastareli (EdiPlug, IRIS) ali osnovni (Racuni.com).
 • Toast (28 % tržni delež) je najbližji referenčni tekmec za benchmarking.
 • Cenovno smo na nizki strani ($49) — med Racuni.com ($25) in TouchBistro ($70).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Poudari: ROS vodi v multi-tenant in večjezičnosti — dve osi, ki definirata SaaS POS.
 - Opozori na plačilno vrzel: 0/10 je blokator za prodajo, rešuje ga P0-2 (8 tednov).
 - Toast zmaga v plačilih, mobilni izkušnji in KDS — tri vrzeli, ki jih naslavljamo v naslednjih treh slide-ih.
 - Lightspeed in Square blizu Toastu v plačilih, a šibki v večjezičnosti.
 - Skupni seštevek: ROS zmaga v 2/6 kategorijah, izenačen v 1, zaostaja v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Notranje prednosti (S) so tehnične in cenovne — FURS + multi-tenant + 5 jezikov + 4× ceneje.
 - Šibkosti (W) so vse produktno odpravljive v 6 mesecih: plačila, PWA, KDS, loyalty.
 - Priložnosti (O) so organske: 25k SI restavracij + EU širitev + white-label + AI.
 - Grožnje (T) vodijo k odločitvi: premakni se hitro, preden Toast pride v EU (2026?).
 - Strategija: S × O — uporabi FURS prednost za hitro zasedbo SI trga v 12 mesecih.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Toast vodi vizualno z 8,9/10 — referenčni standard, še posebej v mikro-animacijah.
 - ROS 8,0/10 prekače slovensko povprečje 6,2 — prednost pred EdiPlug, Racuni.com, IRIS.
 - Edina šibka dimenzija: mobilna izkušnja (7,0 vs Toast 9,0) — odpravlja jo P0-3 v 12 tednih.
 - Sklep: vizualno smo konkurenčni globalnim, ne pa še v mobilnem kanalu.
 - Po P0-3 implementaciji pričakujemo skupno oceno 8,4+ in pariteto s Square.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ROS TCO 2.200 EUR za 3 leta — 4× ceneje od Toast (8.500 EUR), 2,5× od Square (5.400 EUR).
 - Cenovna strategija: 49 EUR/mes osnovna licenca + 2,5 % + 0,10 EUR na transakcijo — poravnano z gostinskim modelom.
 - Squaresse in Toast zahtevata večletne pogodbe z lock-in; ROS omogoča mesečno odpoved.
 - Ekonomska ovira za preklop: prihravek 6.300 EUR/3leta financira trimesečni onboarding nove stranke.
 - Cilj: ohraniti 49 EUR/mes kot "anchor price" — konkurenca Toast/Square ga ne more zasesti brez odpovedi globalne 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Tri vrzeli, 28 tednov skupnega napora — vse tri izvedljive v 6 mesecih s 1,5 FTE ekipo.
 - P0-2 (plačila) je blokator prodaje — prvi v vrsti, december 2025.
 - P0-3 (PWA) nas postavi ob bok Toast/Square v mobilnem kanalu — januar 2026.
 - P1-2 (KDS) je standard v kategoriji — februar 2026 zaklene pariteto s Toast.
 - Po vseh treh: ROS doseže funkcionalno in vizualno pariteto s Toast pri 4× nižji ceni.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Gantt diagram prikazuje zaporedje in prekrivanje P0/P1/P2 aktivnosti skozi 12 mesecev.
 - P0 (30k EUR) je nujen predpogoj za kakršnokoli komercializacijo — brez FURS in plačil prodaja ne more teči.
 - P1 (50k EUR) odpira konkurenčne funkcije (KDS, mobilne nadzorne plošče, AI napovedi) in dohiteva Toast/Square.
 - P2 (70k EUR) širi v EU: multi-currency, white-label, native aplikacija za prihodnost.
 - Skupna investicija 150k EUR, razporejena po prioriteto — pojasnitev na naslednji strani (ROI).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- 150k EUR pokrije 1.5 FTE ekipo za 12 mesecev — razdeljeno na P0/P1/P2 investicije iz prejšnje strani.
 - Cilj 200+ slovenskih lokacij v 12 mesecih je realen ob predpostavki 49 EUR/mes/stranka in 5-novi stranki/teden.
 - ROI break-even v mesecu 14 — dva meseca po investicijskem obdobju, ko mesečni prihodek (9.800 EUR) pokrije tekoče stroške ekipe.
 - Mesec 18: 350 strank in 206.000 EUR skupnega prihodka pomeni 1,37x povračilo investicije.
 - Poudarite: predpostavka je le slovenski trg — EU širitev (P2) znatno pospeši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 tri akcije so P0-1, P0-2 in P0-3 iz roadmapa — izvedljive vzporedno znotraj 12-tedenskega sprinta.
 - Akcija 01 (FURS) je najvišja prioriteta: brez nje prodaja sploh ne more teči, formalno blokira vso komercializacijo.
 - Akcija 02 (Stripe) odpravi glavno UX vrzel iz strani 10 — 5-koračni UX flow postane 3-koračni.
 - Akcija 03 (PWA) dohiti Toast/Square v mobilni izkušnji — ključno za lastnike restavracij, ki delajo na terenu.
 - Vse tri akcije skupaj predstavljajo ~30k EUR investicije (P0 sklop) in odpirajo pot k 200 strankam v 12 mesecih.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Poudarite glavno sporočilo citata: tehnično superior + cenovno konkurenčen = naravni kandidat za vodilni slovenski POS.
 - P0 prioriteta v 3 mesecih (FURS, plačila, PWA) je pogoj za doseg 200 strank v 12 mesecih.
 - Tri naslednje akcije so strukturirane kot odločitvena pot: pregled gradiva → sestanek → odobritev proračuna.
 - 150k EUR za 12 mesecev = 1,5 FTE ekipo (podprto s ROI analizo s strani 12).
 - Zahvalite se za čas in odprite prostor za vprašanja — 46-stransko PDF poročilo je na voljo za podrobno preučitev.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8575" cy="5143500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17059" y="2428875"/>
            <a:ext cx="4326941" cy="271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b="1" dirty="0">
                <a:solidFill>
                  <a:srgbClr val="86702B">
                    <a:alpha val="6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771525" y="516136"/>
            <a:ext cx="26564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69" kern="0" dirty="0">
                <a:solidFill>
                  <a:srgbClr val="D1C9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BENCHMARK 2025 · INVESTOR PITCH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40997" y="432197"/>
            <a:ext cx="42863" cy="42863"/>
          </a:xfrm>
          <a:prstGeom prst="ellipse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41009" y="400050"/>
            <a:ext cx="1428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· INTERNAL DECK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1525" y="1428750"/>
            <a:ext cx="5029200" cy="130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61"/>
              </a:lnSpc>
              <a:buNone/>
            </a:pPr>
            <a:r>
              <a:rPr lang="en-US" sz="5175" b="1" spc="-141" kern="0" dirty="0">
                <a:solidFill>
                  <a:srgbClr val="F3F2F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</a:t>
            </a:r>
            <a:endParaRPr lang="en-US" sz="5175" dirty="0"/>
          </a:p>
          <a:p>
            <a:pPr algn="l" indent="0" marL="0">
              <a:lnSpc>
                <a:spcPts val="4761"/>
              </a:lnSpc>
              <a:buNone/>
            </a:pPr>
            <a:r>
              <a:rPr lang="en-US" sz="5175" b="1" spc="-141" kern="0" dirty="0">
                <a:solidFill>
                  <a:srgbClr val="F3F2F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OS</a:t>
            </a:r>
            <a:endParaRPr lang="en-US" sz="5175" dirty="0"/>
          </a:p>
        </p:txBody>
      </p:sp>
      <p:sp>
        <p:nvSpPr>
          <p:cNvPr id="8" name="Text 6"/>
          <p:cNvSpPr/>
          <p:nvPr/>
        </p:nvSpPr>
        <p:spPr>
          <a:xfrm>
            <a:off x="771525" y="2866430"/>
            <a:ext cx="457200" cy="21431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3059311"/>
            <a:ext cx="457200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D1C9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Tekmovalna analiza in vizualni</a:t>
            </a:r>
            <a:endParaRPr lang="en-US" sz="1238" dirty="0"/>
          </a:p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D1C9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slovenskega POS trga.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5915025" y="1478756"/>
            <a:ext cx="128588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15050" y="1428750"/>
            <a:ext cx="2514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41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ŠTEVILKE ANALIZE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15025" y="1707356"/>
            <a:ext cx="189166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84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915025" y="2178844"/>
            <a:ext cx="118229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TEKMENCEV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ANALIZIRANIH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68766" y="1707356"/>
            <a:ext cx="7144" cy="691381"/>
          </a:xfrm>
          <a:prstGeom prst="rect">
            <a:avLst/>
          </a:prstGeom>
          <a:solidFill>
            <a:srgbClr val="D1C9B3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47359" y="1707356"/>
            <a:ext cx="169664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84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100+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7447359" y="2178844"/>
            <a:ext cx="118229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FUNKCIJ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 MATRIKI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15025" y="2598762"/>
            <a:ext cx="189166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84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5915025" y="3070250"/>
            <a:ext cx="118229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STRAN GLOBINE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ANALIZE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68766" y="2598762"/>
            <a:ext cx="7144" cy="691381"/>
          </a:xfrm>
          <a:prstGeom prst="rect">
            <a:avLst/>
          </a:prstGeom>
          <a:solidFill>
            <a:srgbClr val="D1C9B3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47359" y="2598762"/>
            <a:ext cx="169664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84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7447359" y="3070250"/>
            <a:ext cx="1182291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CENEJE OD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101" kern="0" dirty="0">
                <a:solidFill>
                  <a:srgbClr val="B5B0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71525" y="4718447"/>
            <a:ext cx="785812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1525" y="4879181"/>
            <a:ext cx="6687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41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SEPTEMBER 2025 · INTERNAL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73144" y="4879181"/>
            <a:ext cx="11565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41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V1.0.0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357313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5541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238" y="400050"/>
            <a:ext cx="28946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POGLAVJE 01 · PREDSTAVITEV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89359"/>
            <a:ext cx="401607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6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Agenda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14350" y="989409"/>
            <a:ext cx="3451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Potek predstavitve — šest poglavij v štirinajstih straneh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7093277" y="930920"/>
            <a:ext cx="1536373" cy="98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SEPTEMBER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93277" y="1056605"/>
            <a:ext cx="153637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TOČK · 14 STRANI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560909"/>
            <a:ext cx="3986213" cy="5642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14350" y="1564481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6991" y="1560909"/>
            <a:ext cx="0" cy="56424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4350" y="2121582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066" y="1560909"/>
            <a:ext cx="0" cy="564245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944" y="1682353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1135856" y="1682353"/>
            <a:ext cx="31053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Tržna priložnost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1135856" y="1879476"/>
            <a:ext cx="29575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Globalni trg 18,7 milijard USD, slovenski vhod v globalni POS prostor.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221956" y="17109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4643438" y="1560909"/>
            <a:ext cx="3986213" cy="5642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3438" y="1564481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26078" y="1560909"/>
            <a:ext cx="0" cy="56424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3438" y="2121582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54153" y="1560909"/>
            <a:ext cx="0" cy="564245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2031" y="1682353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5264944" y="1682353"/>
            <a:ext cx="31053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RestaurantOS danes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5264944" y="1879476"/>
            <a:ext cx="29575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Tehnični pregled in trenutno stanje produkta v1.0.0.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51044" y="171092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14350" y="2239454"/>
            <a:ext cx="3986213" cy="6884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14350" y="2243026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6991" y="2239454"/>
            <a:ext cx="0" cy="688479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350" y="2924361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066" y="2239454"/>
            <a:ext cx="0" cy="688479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944" y="2360898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1135856" y="2360898"/>
            <a:ext cx="31053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Tekmovalni pas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1135856" y="2558021"/>
            <a:ext cx="295751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 tekmencev v 6 kategorijah — Toast, Square, Lightspeed in slovenski igralci.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21956" y="23894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4643438" y="2239454"/>
            <a:ext cx="3986213" cy="6884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43438" y="2243026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26078" y="2239454"/>
            <a:ext cx="0" cy="688479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3438" y="2924361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54153" y="2239454"/>
            <a:ext cx="0" cy="688479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2031" y="2360898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5264944" y="2360898"/>
            <a:ext cx="31053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Vizualna primerjava</a:t>
            </a:r>
            <a:endParaRPr lang="en-US" sz="1013" dirty="0"/>
          </a:p>
        </p:txBody>
      </p:sp>
      <p:sp>
        <p:nvSpPr>
          <p:cNvPr id="43" name="Text 41"/>
          <p:cNvSpPr/>
          <p:nvPr/>
        </p:nvSpPr>
        <p:spPr>
          <a:xfrm>
            <a:off x="5264944" y="2558021"/>
            <a:ext cx="3194114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UI, design system in UX flow — kje smo pred, kje za.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51044" y="23894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514350" y="3042233"/>
            <a:ext cx="3986213" cy="5642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14350" y="3045805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6991" y="3042233"/>
            <a:ext cx="0" cy="56424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4350" y="3602906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5066" y="3042233"/>
            <a:ext cx="0" cy="564245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2944" y="3163677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688" dirty="0"/>
          </a:p>
        </p:txBody>
      </p:sp>
      <p:sp>
        <p:nvSpPr>
          <p:cNvPr id="51" name="Text 49"/>
          <p:cNvSpPr/>
          <p:nvPr/>
        </p:nvSpPr>
        <p:spPr>
          <a:xfrm>
            <a:off x="1135856" y="3163677"/>
            <a:ext cx="32146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Cenovni model</a:t>
            </a:r>
            <a:endParaRPr lang="en-US" sz="1013" dirty="0"/>
          </a:p>
        </p:txBody>
      </p:sp>
      <p:sp>
        <p:nvSpPr>
          <p:cNvPr id="52" name="Text 50"/>
          <p:cNvSpPr/>
          <p:nvPr/>
        </p:nvSpPr>
        <p:spPr>
          <a:xfrm>
            <a:off x="1135856" y="3360800"/>
            <a:ext cx="29575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primerjava in value proposition proti globalnim igralcem.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4221956" y="31922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54" name="Text 52"/>
          <p:cNvSpPr/>
          <p:nvPr/>
        </p:nvSpPr>
        <p:spPr>
          <a:xfrm>
            <a:off x="4643438" y="3042233"/>
            <a:ext cx="3986213" cy="56424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643438" y="3045805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6078" y="3042233"/>
            <a:ext cx="0" cy="56424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43438" y="3602906"/>
            <a:ext cx="3986213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54153" y="3042233"/>
            <a:ext cx="0" cy="564245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2031" y="3163677"/>
            <a:ext cx="50292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688" dirty="0"/>
          </a:p>
        </p:txBody>
      </p:sp>
      <p:sp>
        <p:nvSpPr>
          <p:cNvPr id="60" name="Text 58"/>
          <p:cNvSpPr/>
          <p:nvPr/>
        </p:nvSpPr>
        <p:spPr>
          <a:xfrm>
            <a:off x="5264944" y="3163677"/>
            <a:ext cx="310538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Roadmap &amp; investicija</a:t>
            </a:r>
            <a:endParaRPr lang="en-US" sz="1013" dirty="0"/>
          </a:p>
        </p:txBody>
      </p:sp>
      <p:sp>
        <p:nvSpPr>
          <p:cNvPr id="61" name="Text 59"/>
          <p:cNvSpPr/>
          <p:nvPr/>
        </p:nvSpPr>
        <p:spPr>
          <a:xfrm>
            <a:off x="5264944" y="3360800"/>
            <a:ext cx="2957513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P0/P1/P2 prioritete za naslednjih 12 mesecev in potreben budget.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8351044" y="31922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63" name="Shape 61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RESTAURANTOS · INVESTITOR PITCH · 2025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2 / 14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13429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9826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238" y="342900"/>
            <a:ext cx="40010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POGLAVJE 01 · TRG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17922"/>
            <a:ext cx="4668340" cy="28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913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Trg 18,7 milijard USD z 9,8 % letno rastjo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842181"/>
            <a:ext cx="4668340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Slovenski vhod v globalni restavracijski POS trg — naravni vlak za RestaurantOS.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275836" y="385763"/>
            <a:ext cx="135381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VIR: STATISTA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75836" y="500063"/>
            <a:ext cx="1353814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· SAM · SOM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1309315"/>
            <a:ext cx="32901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112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18,7</a:t>
            </a:r>
            <a:pPr algn="l" indent="0" marL="0">
              <a:lnSpc>
                <a:spcPts val="3420"/>
              </a:lnSpc>
              <a:buNone/>
            </a:pPr>
            <a:r>
              <a:rPr lang="en-US" sz="1013" b="1" spc="-112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Mrd USD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14350" y="1829358"/>
            <a:ext cx="228376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GLOBALNI TRG 2025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59236" y="1309315"/>
            <a:ext cx="7144" cy="640035"/>
          </a:xfrm>
          <a:prstGeom prst="rect">
            <a:avLst/>
          </a:prstGeom>
          <a:solidFill>
            <a:srgbClr val="D1C9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5910" y="1309315"/>
            <a:ext cx="2803550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112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9,8</a:t>
            </a:r>
            <a:pPr algn="l" indent="0" marL="0">
              <a:lnSpc>
                <a:spcPts val="3420"/>
              </a:lnSpc>
              <a:buNone/>
            </a:pPr>
            <a:r>
              <a:rPr lang="en-US" sz="1013" b="1" spc="-112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CAGR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23542" y="1829358"/>
            <a:ext cx="228376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LETNA RAST 2025–2030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68428" y="1309315"/>
            <a:ext cx="7144" cy="640035"/>
          </a:xfrm>
          <a:prstGeom prst="rect">
            <a:avLst/>
          </a:prstGeom>
          <a:solidFill>
            <a:srgbClr val="D1C9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2734" y="1309315"/>
            <a:ext cx="2431304" cy="4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112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25.000</a:t>
            </a:r>
            <a:pPr algn="l" indent="0" marL="0">
              <a:lnSpc>
                <a:spcPts val="3420"/>
              </a:lnSpc>
              <a:buNone/>
            </a:pPr>
            <a:r>
              <a:rPr lang="en-US" sz="1013" b="1" spc="-112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32734" y="1829358"/>
            <a:ext cx="215504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SLOVENSKIH RESTAVRACIJ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77620" y="1309315"/>
            <a:ext cx="7144" cy="640035"/>
          </a:xfrm>
          <a:prstGeom prst="rect">
            <a:avLst/>
          </a:prstGeom>
          <a:solidFill>
            <a:srgbClr val="D1C9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41927" y="1309315"/>
            <a:ext cx="2302073" cy="4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600" b="1" spc="-112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</a:t>
            </a:r>
            <a:pPr algn="l" indent="0" marL="0">
              <a:lnSpc>
                <a:spcPts val="3420"/>
              </a:lnSpc>
              <a:buNone/>
            </a:pPr>
            <a:r>
              <a:rPr lang="en-US" sz="1013" b="1" spc="-112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41927" y="1829358"/>
            <a:ext cx="199559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NOVIH IMPLEMENTACIJ V OBLAKU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2149376"/>
            <a:ext cx="2619301" cy="9429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14350" y="2160091"/>
            <a:ext cx="2619301" cy="0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0079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350" y="3088779"/>
            <a:ext cx="2619301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922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369" y="2299395"/>
            <a:ext cx="21621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Cloud-first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40757" y="2299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664369" y="2485132"/>
            <a:ext cx="242899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On-premise izgublja 8 % na leto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4369" y="2699445"/>
            <a:ext cx="23192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87 % novih implementacij v oblaku — RestaurantOS je od prvega dne arhitekturno cloud-native, multi-tenant.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62238" y="2149376"/>
            <a:ext cx="2619412" cy="9429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262238" y="2160091"/>
            <a:ext cx="2619412" cy="0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8078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2238" y="3088779"/>
            <a:ext cx="2619412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5810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2257" y="2299395"/>
            <a:ext cx="2162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AI integracije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8757" y="2299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3412257" y="2485132"/>
            <a:ext cx="2429103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64 % restavracij načrtuje AI napovedi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12257" y="2699445"/>
            <a:ext cx="23193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 18 mesecih — naravna podaljška trenutne arhitekture in P2 prioriteta na roadmap-u.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0238" y="2149376"/>
            <a:ext cx="2619301" cy="9429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010238" y="2160091"/>
            <a:ext cx="2619301" cy="0"/>
          </a:xfrm>
          <a:prstGeom prst="line">
            <a:avLst/>
          </a:prstGeom>
          <a:noFill/>
          <a:ln w="21431">
            <a:solidFill>
              <a:srgbClr val="8670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25967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10238" y="3088779"/>
            <a:ext cx="2619301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3810" y="2149376"/>
            <a:ext cx="0" cy="942975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0257" y="2299395"/>
            <a:ext cx="21621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FURS zahteva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336645" y="229939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45" name="Text 43"/>
          <p:cNvSpPr/>
          <p:nvPr/>
        </p:nvSpPr>
        <p:spPr>
          <a:xfrm>
            <a:off x="6160257" y="2485132"/>
            <a:ext cx="242899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Slovenski trg je naravni vlak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60257" y="2699445"/>
            <a:ext cx="23192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Globalni igralci (Toast, Square, Lightspeed) nimajo FURS — RestaurantOS je edini moderni Next.js POS z certifikacijo.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3 / 14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107647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9826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7238" y="342900"/>
            <a:ext cx="37539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POGLAVJE 02 · PRODUKT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17922"/>
            <a:ext cx="4396498" cy="2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RestaurantOS v1.0.0 — tehnični pregled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812155"/>
            <a:ext cx="439649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Sodoben multi-tenant POS zgrajen na Next.js 16 — v produkciji od septembra 2025.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275836" y="744289"/>
            <a:ext cx="135381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PRODUCTION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75836" y="858589"/>
            <a:ext cx="13538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V1.0.0 · SEP 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208633"/>
            <a:ext cx="62924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TEHNIČNE PREDNOSTI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4350" y="1876574"/>
            <a:ext cx="4793791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350" y="1472952"/>
            <a:ext cx="342900" cy="204493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2963" y="1472952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86702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7966" y="149795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214438" y="1472952"/>
            <a:ext cx="4203432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Multi-tenant arhitektura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14438" y="1644402"/>
            <a:ext cx="40937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8-tabelna izolacija, optimistic locking, cross-branch audit log za več podjetij v eni instanci.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514350" y="2383780"/>
            <a:ext cx="4793791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1980158"/>
            <a:ext cx="342900" cy="204493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2963" y="1980158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86702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7966" y="200516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214438" y="1980158"/>
            <a:ext cx="409370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FURS certificiran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14438" y="2151608"/>
            <a:ext cx="40937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Edini slovenski POS na modernem Next.js stacku z zakonsko skladno davčno evidenco.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514350" y="2890986"/>
            <a:ext cx="4793791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" y="2487364"/>
            <a:ext cx="342900" cy="204493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2963" y="2487364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86702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7966" y="251236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1214438" y="2487364"/>
            <a:ext cx="409370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A++ varnost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14438" y="2658814"/>
            <a:ext cx="40937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XSS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密钥泄露 —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polna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avdit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varnostnih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ranljivosti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brez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kriti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č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nih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najdb</a:t>
            </a:r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8A88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14350" y="2994571"/>
            <a:ext cx="342900" cy="204493"/>
          </a:xfrm>
          <a:prstGeom prst="rect">
            <a:avLst/>
          </a:prstGeom>
          <a:noFill/>
          <a:ln/>
        </p:spPr>
        <p:txBody>
          <a:bodyPr wrap="none" lIns="0" tIns="28575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2963" y="2994571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86702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7966" y="30195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1214438" y="2994571"/>
            <a:ext cx="52399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jezikov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14438" y="3166021"/>
            <a:ext cx="409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 / en / it / hr / de z lokalizacijo davkov — ready za širitev v EU regijo.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36741" y="1208633"/>
            <a:ext cx="3092909" cy="2190229"/>
          </a:xfrm>
          <a:prstGeom prst="roundRect">
            <a:avLst>
              <a:gd name="adj" fmla="val 2609"/>
            </a:avLst>
          </a:prstGeom>
          <a:solidFill>
            <a:srgbClr val="1D1C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93904" y="1365796"/>
            <a:ext cx="277858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41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93904" y="1515814"/>
            <a:ext cx="2778584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3F2F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Arhitektura &amp; obseg kode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5693904" y="1770087"/>
            <a:ext cx="2888312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FRAMEWORK &amp; PODATKOVNA PLAST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93904" y="1937965"/>
            <a:ext cx="630324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93904" y="1948681"/>
            <a:ext cx="6303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D1C9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67090" y="1937965"/>
            <a:ext cx="630324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67090" y="1948681"/>
            <a:ext cx="6303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ORM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40277" y="1937965"/>
            <a:ext cx="866849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40277" y="1948681"/>
            <a:ext cx="86684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Neon PostgreSQL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93904" y="2227287"/>
            <a:ext cx="277858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OBSEG PRODUKTA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93904" y="2395165"/>
            <a:ext cx="767842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57329" y="2448744"/>
            <a:ext cx="52584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19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rutin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5772485" y="2455887"/>
            <a:ext cx="6106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04608" y="2395165"/>
            <a:ext cx="767842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68033" y="2448744"/>
            <a:ext cx="52584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19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komponent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6583189" y="2455887"/>
            <a:ext cx="6106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15312" y="2395165"/>
            <a:ext cx="767953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720719" y="2448744"/>
            <a:ext cx="75176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vrstic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93893" y="2455887"/>
            <a:ext cx="61079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63.389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93904" y="2684487"/>
            <a:ext cx="277858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RAZVOJNA AKTIVNOST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93904" y="2852365"/>
            <a:ext cx="767842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10002" y="2905944"/>
            <a:ext cx="57317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619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odvisnosti</a:t>
            </a:r>
            <a:endParaRPr lang="en-US" sz="619" dirty="0"/>
          </a:p>
        </p:txBody>
      </p:sp>
      <p:sp>
        <p:nvSpPr>
          <p:cNvPr id="56" name="Text 54"/>
          <p:cNvSpPr/>
          <p:nvPr/>
        </p:nvSpPr>
        <p:spPr>
          <a:xfrm>
            <a:off x="5772485" y="2913087"/>
            <a:ext cx="6106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04608" y="2852365"/>
            <a:ext cx="767842" cy="200025"/>
          </a:xfrm>
          <a:prstGeom prst="roundRect">
            <a:avLst>
              <a:gd name="adj" fmla="val 19048"/>
            </a:avLst>
          </a:prstGeom>
          <a:solidFill>
            <a:srgbClr val="F3F2F1">
              <a:alpha val="8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815361" y="2905944"/>
            <a:ext cx="165712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commitov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189" y="2913087"/>
            <a:ext cx="61067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430+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693904" y="3045247"/>
            <a:ext cx="2778584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3904" y="3041675"/>
            <a:ext cx="2778584" cy="214313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▎ MONOREPO · TYPESCRIPT STRICT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4 / 14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78694"/>
            <a:ext cx="82296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111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0088" y="285750"/>
            <a:ext cx="26351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POGLAVJE 03 · KONKURENCA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46484"/>
            <a:ext cx="3165842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88" b="1" spc="-28" kern="0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tekmencev v treh kategorijah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457200" y="725091"/>
            <a:ext cx="316584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Od Toast do Racuni.com — celovit pregled konkurenčnega pasu.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6772726" y="646509"/>
            <a:ext cx="191407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TRŽNI DELEŽ · CENA/MES · FURS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05607" y="760809"/>
            <a:ext cx="21811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VIR: ANALIZA SEP 2025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1100138"/>
            <a:ext cx="2669307" cy="1642504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344" y="1103709"/>
            <a:ext cx="2662163" cy="366452"/>
          </a:xfrm>
          <a:prstGeom prst="rect">
            <a:avLst/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4356" y="1175147"/>
            <a:ext cx="152258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Globalni vodji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4356" y="1291568"/>
            <a:ext cx="137825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F3F2F1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 · Square · Lightspeed · Clover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704133" y="1233301"/>
            <a:ext cx="3223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D1C9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TEK.</a:t>
            </a:r>
            <a:endParaRPr lang="en-US" sz="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470161"/>
          <a:ext cx="2662163" cy="914400"/>
        </p:xfrm>
        <a:graphic>
          <a:graphicData uri="http://schemas.openxmlformats.org/drawingml/2006/table">
            <a:tbl>
              <a:tblPr/>
              <a:tblGrid>
                <a:gridCol w="1011622"/>
                <a:gridCol w="585676"/>
                <a:gridCol w="585676"/>
                <a:gridCol w="4791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Tekmec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Delež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$ /mes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FURS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Toast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$165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Square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$0–54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Lightspeed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$89–169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Clover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$105–145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237235" y="1100138"/>
            <a:ext cx="2669418" cy="1642504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40807" y="1103709"/>
            <a:ext cx="2662275" cy="366452"/>
          </a:xfrm>
          <a:prstGeom prst="rect">
            <a:avLst/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40819" y="1175147"/>
            <a:ext cx="19587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Globalni SMB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340819" y="1291568"/>
            <a:ext cx="177306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F3F2F1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TouchBistro · Lavu · GloriaFood · Shopify POS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480707" y="1233301"/>
            <a:ext cx="3223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D1C9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TEK.</a:t>
            </a:r>
            <a:endParaRPr lang="en-US" sz="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0807" y="1470161"/>
          <a:ext cx="2662275" cy="914400"/>
        </p:xfrm>
        <a:graphic>
          <a:graphicData uri="http://schemas.openxmlformats.org/drawingml/2006/table">
            <a:tbl>
              <a:tblPr/>
              <a:tblGrid>
                <a:gridCol w="1011622"/>
                <a:gridCol w="585676"/>
                <a:gridCol w="585676"/>
                <a:gridCol w="47930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Tekmec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Delež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$ /mes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FURS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TouchBistro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$70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Lavu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GloriaFood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Shopify POS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$89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013810" y="1100138"/>
            <a:ext cx="2669307" cy="1642504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017382" y="1103709"/>
            <a:ext cx="2662163" cy="366452"/>
          </a:xfrm>
          <a:prstGeom prst="rect">
            <a:avLst/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117394" y="1175147"/>
            <a:ext cx="14239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b="1" spc="17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Slovenski tekmecci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117394" y="1291568"/>
            <a:ext cx="12889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8" kern="0" dirty="0">
                <a:solidFill>
                  <a:srgbClr val="F3F2F1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EdiPlug · Racuni.com · IRIS/Citati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8257170" y="1233301"/>
            <a:ext cx="3223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D1C9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TEK.</a:t>
            </a:r>
            <a:endParaRPr lang="en-US" sz="6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7382" y="1470161"/>
          <a:ext cx="2662163" cy="914400"/>
        </p:xfrm>
        <a:graphic>
          <a:graphicData uri="http://schemas.openxmlformats.org/drawingml/2006/table">
            <a:tbl>
              <a:tblPr/>
              <a:tblGrid>
                <a:gridCol w="1011622"/>
                <a:gridCol w="585676"/>
                <a:gridCol w="585676"/>
                <a:gridCol w="4791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Tekmec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Delež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$ /mes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A888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FURS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57150" marT="57150" marB="50006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EdiPlug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18 % SI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Racuni.com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15 % SI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IRIS/Citati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12 % SI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$20–40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86702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RestaurantOS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nov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$49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✓DA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57150" marT="57150" marB="64294" anchor="ctr">
                    <a:lnL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9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457200" y="2874801"/>
            <a:ext cx="8229600" cy="601414"/>
          </a:xfrm>
          <a:prstGeom prst="roundRect">
            <a:avLst>
              <a:gd name="adj" fmla="val 6335"/>
            </a:avLst>
          </a:prstGeom>
          <a:solidFill>
            <a:srgbClr val="1D1C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3"/>
          <p:cNvSpPr/>
          <p:nvPr/>
        </p:nvSpPr>
        <p:spPr>
          <a:xfrm>
            <a:off x="471488" y="2874801"/>
            <a:ext cx="0" cy="601414"/>
          </a:xfrm>
          <a:prstGeom prst="line">
            <a:avLst/>
          </a:prstGeom>
          <a:noFill/>
          <a:ln w="28575">
            <a:solidFill>
              <a:srgbClr val="86702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2938" y="307549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969" dirty="0"/>
          </a:p>
        </p:txBody>
      </p:sp>
      <p:sp>
        <p:nvSpPr>
          <p:cNvPr id="30" name="Text 25"/>
          <p:cNvSpPr/>
          <p:nvPr/>
        </p:nvSpPr>
        <p:spPr>
          <a:xfrm>
            <a:off x="957263" y="2974814"/>
            <a:ext cx="75723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3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NARAVNI VLAK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957263" y="3096258"/>
            <a:ext cx="6800069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b="1" dirty="0">
                <a:solidFill>
                  <a:srgbClr val="86702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Noben od 8 globalnih tekmencev nima FURS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3F2F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slovenski tekmecci s FURS so zastareli ali osnovni. RestaurantOS zaseda praznino: modern Next.js + FURS + 5 jezikov.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7875203" y="3057637"/>
            <a:ext cx="0" cy="235744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871631" y="3057637"/>
            <a:ext cx="658006" cy="318567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8</a:t>
            </a:r>
            <a:endParaRPr lang="en-US" sz="800" dirty="0"/>
          </a:p>
          <a:p>
            <a:pPr algn="r" indent="0" marL="0">
              <a:lnSpc>
                <a:spcPts val="928"/>
              </a:lnSpc>
              <a:buNone/>
            </a:pPr>
            <a:r>
              <a:rPr lang="en-US" sz="800" spc="84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BREZ FURS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5 / 14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23080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FUNKCIJSKA MATRIKA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Radarska primerjava funkcionalne pokritosti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48693"/>
            <a:ext cx="86296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RestaurantOS vs Toast, Square, Lightspeed po 6 kategorijah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517922" y="1572295"/>
            <a:ext cx="4643438" cy="3641527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5794" y="1691953"/>
            <a:ext cx="21973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SLIKA 6.1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5794" y="1799109"/>
            <a:ext cx="170422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Pokritost po 6 funkcionalnih osjah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3005286" y="1699096"/>
            <a:ext cx="71438" cy="71438"/>
          </a:xfrm>
          <a:prstGeom prst="roundRect">
            <a:avLst>
              <a:gd name="adj" fmla="val 26666"/>
            </a:avLst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78124" y="1675879"/>
            <a:ext cx="819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03253" y="1699096"/>
            <a:ext cx="71438" cy="71438"/>
          </a:xfrm>
          <a:prstGeom prst="roundRect">
            <a:avLst>
              <a:gd name="adj" fmla="val 26666"/>
            </a:avLst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03253" y="1675879"/>
            <a:ext cx="4834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91136" y="1699096"/>
            <a:ext cx="71438" cy="71438"/>
          </a:xfrm>
          <a:prstGeom prst="roundRect">
            <a:avLst>
              <a:gd name="adj" fmla="val 26666"/>
            </a:avLst>
          </a:prstGeom>
          <a:solidFill>
            <a:srgbClr val="7D735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91136" y="1675879"/>
            <a:ext cx="5259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Square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44653" y="1699096"/>
            <a:ext cx="71438" cy="71438"/>
          </a:xfrm>
          <a:prstGeom prst="roundRect">
            <a:avLst>
              <a:gd name="adj" fmla="val 26666"/>
            </a:avLst>
          </a:prstGeom>
          <a:solidFill>
            <a:srgbClr val="8A88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34595" y="1675879"/>
            <a:ext cx="5189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Lightspeed</a:t>
            </a:r>
            <a:endParaRPr lang="en-US" sz="619" dirty="0"/>
          </a:p>
        </p:txBody>
      </p:sp>
      <p:pic>
        <p:nvPicPr>
          <p:cNvPr id="16" name="Image 0" descr="/tmp/h2p-fit-1788514239684-if1n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2016993"/>
            <a:ext cx="4407694" cy="29289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5794" y="5003081"/>
            <a:ext cx="44076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VIR: INTERNA ANALIZA · LESTVICA 0–10 · 6 KATEGORIJ · N=11 TEKMENCEV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64956" y="1618729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64956" y="1568723"/>
            <a:ext cx="37790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KLJUČNE UGOTOVITVE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68528" y="1765176"/>
            <a:ext cx="3257550" cy="874663"/>
          </a:xfrm>
          <a:prstGeom prst="roundRect">
            <a:avLst>
              <a:gd name="adj" fmla="val 653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514975" y="1897335"/>
            <a:ext cx="1951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MULTI-TENANT LIDER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57762" y="1874261"/>
            <a:ext cx="1059016" cy="164021"/>
          </a:xfrm>
          <a:prstGeom prst="roundRect">
            <a:avLst>
              <a:gd name="adj" fmla="val 17422"/>
            </a:avLst>
          </a:prstGeom>
          <a:solidFill>
            <a:srgbClr val="3C7A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480622" y="1883048"/>
            <a:ext cx="10132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C7A5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ROS 9.5 / Toast 9.0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14975" y="2058070"/>
            <a:ext cx="3088672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Multi-tenant arhitektura vodi</a:t>
            </a:r>
            <a:endParaRPr lang="en-US" sz="956" dirty="0"/>
          </a:p>
        </p:txBody>
      </p:sp>
      <p:sp>
        <p:nvSpPr>
          <p:cNvPr id="25" name="Text 22"/>
          <p:cNvSpPr/>
          <p:nvPr/>
        </p:nvSpPr>
        <p:spPr>
          <a:xfrm>
            <a:off x="5514975" y="2252737"/>
            <a:ext cx="29789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RestaurantOS dosega 9.5/10 v multi-tenant izolaciji z 8-tabelno arhitekturo, Toast le 9.0. Edini slovenski POS s pravo SaaS izolacijo.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68528" y="2732708"/>
            <a:ext cx="3257550" cy="874663"/>
          </a:xfrm>
          <a:prstGeom prst="roundRect">
            <a:avLst>
              <a:gd name="adj" fmla="val 653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514975" y="2864867"/>
            <a:ext cx="1951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VEČJEZIČNOST MOČNA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457762" y="2841793"/>
            <a:ext cx="1059016" cy="164021"/>
          </a:xfrm>
          <a:prstGeom prst="roundRect">
            <a:avLst>
              <a:gd name="adj" fmla="val 17422"/>
            </a:avLst>
          </a:prstGeom>
          <a:solidFill>
            <a:srgbClr val="3C7A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480622" y="2850579"/>
            <a:ext cx="10132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C7A5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ROS 9.0 / Toast 5.0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14975" y="3025601"/>
            <a:ext cx="297894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jezikov podprto v jedru</a:t>
            </a:r>
            <a:endParaRPr lang="en-US" sz="956" dirty="0"/>
          </a:p>
        </p:txBody>
      </p:sp>
      <p:sp>
        <p:nvSpPr>
          <p:cNvPr id="31" name="Text 28"/>
          <p:cNvSpPr/>
          <p:nvPr/>
        </p:nvSpPr>
        <p:spPr>
          <a:xfrm>
            <a:off x="5514975" y="3220269"/>
            <a:ext cx="29789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 9.0/10 za sl/en/it/hr/de z lokalizacijo davkov. Toast le 5.0/10 — prevod je dodaten paket, kar otežuje EU širitev.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68528" y="3700239"/>
            <a:ext cx="3257550" cy="874663"/>
          </a:xfrm>
          <a:prstGeom prst="roundRect">
            <a:avLst>
              <a:gd name="adj" fmla="val 653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514975" y="3832399"/>
            <a:ext cx="20707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PLAČILA GLAVNA VRZEL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57762" y="3809324"/>
            <a:ext cx="1059016" cy="164021"/>
          </a:xfrm>
          <a:prstGeom prst="roundRect">
            <a:avLst>
              <a:gd name="adj" fmla="val 17422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480622" y="3818111"/>
            <a:ext cx="101329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ROS 0.0 / Toast 9.5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14975" y="3993133"/>
            <a:ext cx="3088672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Brez plačilnega gateway-a</a:t>
            </a:r>
            <a:endParaRPr lang="en-US" sz="956" dirty="0"/>
          </a:p>
        </p:txBody>
      </p:sp>
      <p:sp>
        <p:nvSpPr>
          <p:cNvPr id="37" name="Text 34"/>
          <p:cNvSpPr/>
          <p:nvPr/>
        </p:nvSpPr>
        <p:spPr>
          <a:xfrm>
            <a:off x="5514975" y="4187800"/>
            <a:ext cx="29789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 0/10 za integrirana plačila (Stripe/SumUp). Toast 9.5/10. P0-2 v roadmapu odpravlja vrzel v 8 tednih.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6 / 14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794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SWOT ANALIZA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4673251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SWOT analiza RestaurantOS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48693"/>
            <a:ext cx="4673251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Strateški pregled prednosti, slabosti, priložnosti in groženj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506952" y="1150813"/>
            <a:ext cx="1045332" cy="200025"/>
          </a:xfrm>
          <a:prstGeom prst="roundRect">
            <a:avLst>
              <a:gd name="adj" fmla="val 476190"/>
            </a:avLst>
          </a:prstGeom>
          <a:solidFill>
            <a:srgbClr val="FFFFFF">
              <a:alpha val="60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6952" y="1161529"/>
            <a:ext cx="104533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NOTRANJE · S + 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638008" y="1150813"/>
            <a:ext cx="991642" cy="200025"/>
          </a:xfrm>
          <a:prstGeom prst="roundRect">
            <a:avLst>
              <a:gd name="adj" fmla="val 476190"/>
            </a:avLst>
          </a:prstGeom>
          <a:solidFill>
            <a:srgbClr val="685F46"/>
          </a:solidFill>
          <a:ln w="7144">
            <a:solidFill>
              <a:srgbClr val="685F4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38008" y="1161529"/>
            <a:ext cx="99164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ZUNANJE · O + 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922" y="1543720"/>
            <a:ext cx="3993356" cy="1657350"/>
          </a:xfrm>
          <a:prstGeom prst="roundRect">
            <a:avLst>
              <a:gd name="adj" fmla="val 3448"/>
            </a:avLst>
          </a:prstGeom>
          <a:solidFill>
            <a:srgbClr val="EAF3EE"/>
          </a:solidFill>
          <a:ln w="7144">
            <a:solidFill>
              <a:srgbClr val="C8DCC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1693738"/>
            <a:ext cx="242888" cy="242888"/>
          </a:xfrm>
          <a:prstGeom prst="ellipse">
            <a:avLst/>
          </a:prstGeom>
          <a:solidFill>
            <a:srgbClr val="3C7A5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228" y="171159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3C7A5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955834" y="1666878"/>
            <a:ext cx="900626" cy="168021"/>
          </a:xfrm>
          <a:prstGeom prst="roundRect">
            <a:avLst>
              <a:gd name="adj" fmla="val 17007"/>
            </a:avLst>
          </a:prstGeom>
          <a:solidFill>
            <a:srgbClr val="3C7A5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6170" y="1675879"/>
            <a:ext cx="89995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2D5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· STRENGTHS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78694" y="1825898"/>
            <a:ext cx="100195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2D5E3D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Močne točke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64369" y="2040210"/>
            <a:ext cx="3700463" cy="114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✓FURS-certificiran Next.js POS — edini v Sloveniji na modernem stacku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✦Multi-tenant arhitektura z 8-tabelno izolacijo in audit logom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⛨A++ varnost — 0 XSS, 0 SQLi, 0 uhajanj ključev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◯5 jezikov (sl/en/it/hr/de) z lokalizacijo davkov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◫49 EUR/mes — 4× ceneje od Toast, 2× od Square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2722" y="1543720"/>
            <a:ext cx="3993356" cy="1657350"/>
          </a:xfrm>
          <a:prstGeom prst="roundRect">
            <a:avLst>
              <a:gd name="adj" fmla="val 3448"/>
            </a:avLst>
          </a:prstGeom>
          <a:solidFill>
            <a:srgbClr val="F5E8E7"/>
          </a:solidFill>
          <a:ln w="7144">
            <a:solidFill>
              <a:srgbClr val="E2CDC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79169" y="1693738"/>
            <a:ext cx="242888" cy="242888"/>
          </a:xfrm>
          <a:prstGeom prst="ellipse">
            <a:avLst/>
          </a:prstGeom>
          <a:solidFill>
            <a:srgbClr val="9B4A43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7028" y="171159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5070634" y="1666878"/>
            <a:ext cx="956548" cy="168021"/>
          </a:xfrm>
          <a:prstGeom prst="roundRect">
            <a:avLst>
              <a:gd name="adj" fmla="val 17007"/>
            </a:avLst>
          </a:prstGeom>
          <a:solidFill>
            <a:srgbClr val="9B4A43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61766" y="1675879"/>
            <a:ext cx="97428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7A3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· WEAKNESSES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93494" y="1825898"/>
            <a:ext cx="106749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7A35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Šibke točke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779169" y="2040210"/>
            <a:ext cx="3700463" cy="114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✎Brez plačilnega gateway-a (Stripe/SumUp) — 5-koračni UX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▯Brez mobilne aplikacije (PWA) — le responsivna stran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⊕Brez KDS (Kitchen Display System) za kuhinjo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♟Majhna baza uporabnikov — še brez referenčnih strank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♥Brez loyalty programa za povratne goste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7922" y="3322513"/>
            <a:ext cx="3993356" cy="1657350"/>
          </a:xfrm>
          <a:prstGeom prst="roundRect">
            <a:avLst>
              <a:gd name="adj" fmla="val 3448"/>
            </a:avLst>
          </a:prstGeom>
          <a:solidFill>
            <a:srgbClr val="E9EFF5"/>
          </a:solidFill>
          <a:ln w="7144">
            <a:solidFill>
              <a:srgbClr val="C5D3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4369" y="3472532"/>
            <a:ext cx="242888" cy="242888"/>
          </a:xfrm>
          <a:prstGeom prst="ellipse">
            <a:avLst/>
          </a:prstGeom>
          <a:solidFill>
            <a:srgbClr val="42699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2228" y="34903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269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955834" y="3445672"/>
            <a:ext cx="1124091" cy="168021"/>
          </a:xfrm>
          <a:prstGeom prst="roundRect">
            <a:avLst>
              <a:gd name="adj" fmla="val 17007"/>
            </a:avLst>
          </a:prstGeom>
          <a:solidFill>
            <a:srgbClr val="426990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8694" y="3454673"/>
            <a:ext cx="107837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2F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· OPPORTUNITIES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78694" y="3604692"/>
            <a:ext cx="126385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2F4F7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Priložnosti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664369" y="3819004"/>
            <a:ext cx="3700463" cy="114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🏪Slovenski trg 25.000+ restavracij kot naravni vhodni trg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◯Širitev v EU — Italija in Hrvaška kot prvi cilji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✦White-label SaaS za distributerje opreme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napovedi prodaje za zaloge in osebje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✦QR meni + spletna naročila kot dodaten paket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32722" y="3322513"/>
            <a:ext cx="3993356" cy="1657350"/>
          </a:xfrm>
          <a:prstGeom prst="roundRect">
            <a:avLst>
              <a:gd name="adj" fmla="val 3448"/>
            </a:avLst>
          </a:prstGeom>
          <a:solidFill>
            <a:srgbClr val="F5EDE1"/>
          </a:solidFill>
          <a:ln w="7144">
            <a:solidFill>
              <a:srgbClr val="E0D0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9169" y="3472532"/>
            <a:ext cx="242888" cy="242888"/>
          </a:xfrm>
          <a:prstGeom prst="ellipse">
            <a:avLst/>
          </a:prstGeom>
          <a:solidFill>
            <a:srgbClr val="86702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7028" y="349039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5070634" y="3445672"/>
            <a:ext cx="788893" cy="168021"/>
          </a:xfrm>
          <a:prstGeom prst="roundRect">
            <a:avLst>
              <a:gd name="adj" fmla="val 17007"/>
            </a:avLst>
          </a:prstGeom>
          <a:solidFill>
            <a:srgbClr val="86702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89435" y="3454673"/>
            <a:ext cx="75129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6A5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· THREATS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93494" y="3604692"/>
            <a:ext cx="95126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b="1" dirty="0">
                <a:solidFill>
                  <a:srgbClr val="6A581D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Grožnje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4779169" y="3819004"/>
            <a:ext cx="3700463" cy="114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✈Toast vstop v EU trg (lahko 2026)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⚖FURS spremembe predpisov lahko zahtevajo recertifikacijo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✦Open-source POS konkurenca (Floreant, uniCenta)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▭Microsoft/Google vstop v vertikalo POS</a:t>
            </a:r>
            <a:endParaRPr lang="en-US" sz="800" dirty="0"/>
          </a:p>
          <a:p>
            <a:pPr algn="l" marL="342900" indent="-342900">
              <a:lnSpc>
                <a:spcPts val="984"/>
              </a:lnSpc>
              <a:spcAft>
                <a:spcPts val="394"/>
              </a:spcAft>
              <a:buSzPct val="100000"/>
              <a:buChar char="•"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↘Gospodarska recesija krči IT proračune restavracij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7 / 14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2393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VIZUALNA PRIMERJAVA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6568901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Vizualna zrelost — ocene po 6 dimenzijah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48693"/>
            <a:ext cx="6568901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RestaurantOS v srednjem segmentu, a pred slovenskimi tekmeci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642906" y="1150813"/>
            <a:ext cx="884262" cy="200025"/>
          </a:xfrm>
          <a:prstGeom prst="roundRect">
            <a:avLst>
              <a:gd name="adj" fmla="val 476190"/>
            </a:avLst>
          </a:prstGeom>
          <a:solidFill>
            <a:srgbClr val="FFFFFF">
              <a:alpha val="60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14680" y="1161529"/>
            <a:ext cx="94071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LESTVICA 0–10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4318" y="1150813"/>
            <a:ext cx="1045332" cy="200025"/>
          </a:xfrm>
          <a:prstGeom prst="roundRect">
            <a:avLst>
              <a:gd name="adj" fmla="val 476190"/>
            </a:avLst>
          </a:prstGeom>
          <a:solidFill>
            <a:srgbClr val="685F46"/>
          </a:solidFill>
          <a:ln w="7144">
            <a:solidFill>
              <a:srgbClr val="685F4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4318" y="1161529"/>
            <a:ext cx="104533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 = 11 TEKMENCEV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922" y="1543720"/>
            <a:ext cx="5345869" cy="3393281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5794" y="1663378"/>
            <a:ext cx="20807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SLIKA 8.1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1770534"/>
            <a:ext cx="161381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Vizualna zrelost po 6 dimenzijah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4108884" y="1670521"/>
            <a:ext cx="71438" cy="71438"/>
          </a:xfrm>
          <a:prstGeom prst="roundRect">
            <a:avLst>
              <a:gd name="adj" fmla="val 26666"/>
            </a:avLst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81721" y="1647304"/>
            <a:ext cx="819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6851" y="1670521"/>
            <a:ext cx="71438" cy="71438"/>
          </a:xfrm>
          <a:prstGeom prst="roundRect">
            <a:avLst>
              <a:gd name="adj" fmla="val 26666"/>
            </a:avLst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6851" y="1647304"/>
            <a:ext cx="4834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Toast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734" y="1670521"/>
            <a:ext cx="71438" cy="71438"/>
          </a:xfrm>
          <a:prstGeom prst="roundRect">
            <a:avLst>
              <a:gd name="adj" fmla="val 26666"/>
            </a:avLst>
          </a:prstGeom>
          <a:solidFill>
            <a:srgbClr val="8A88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2370" y="1647304"/>
            <a:ext cx="595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 povprečje</a:t>
            </a:r>
            <a:endParaRPr lang="en-US" sz="619" dirty="0"/>
          </a:p>
        </p:txBody>
      </p:sp>
      <p:pic>
        <p:nvPicPr>
          <p:cNvPr id="18" name="Image 0" descr="/tmp/h2p-fit-1788514240386-ztwf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1997683"/>
            <a:ext cx="5110125" cy="25550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5794" y="4619104"/>
            <a:ext cx="5110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VIR: INTERNA OCENA · 6 DIMENZIJ: TIPOGRAFIJA, BARVA, POSTAVITEV, MIKRO-ANIMACIJE, MOBILNA IZKUŠNJA, DOSLEDNOST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38813" y="159015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038813" y="1540148"/>
            <a:ext cx="31051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KLJUČNE UGOTOVITVE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42385" y="1736601"/>
            <a:ext cx="2583582" cy="775097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60257" y="185893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C7A50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81331" y="188001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C7A5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266" dirty="0"/>
          </a:p>
        </p:txBody>
      </p:sp>
      <p:sp>
        <p:nvSpPr>
          <p:cNvPr id="25" name="Text 22"/>
          <p:cNvSpPr/>
          <p:nvPr/>
        </p:nvSpPr>
        <p:spPr>
          <a:xfrm>
            <a:off x="6460294" y="1840185"/>
            <a:ext cx="2047801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TOAST VODI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60294" y="1972345"/>
            <a:ext cx="180608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8,9/10 povprečje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8251813" y="1891227"/>
            <a:ext cx="256282" cy="164021"/>
          </a:xfrm>
          <a:prstGeom prst="roundRect">
            <a:avLst>
              <a:gd name="adj" fmla="val 17422"/>
            </a:avLst>
          </a:prstGeom>
          <a:solidFill>
            <a:srgbClr val="3C7A5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251813" y="1900014"/>
            <a:ext cx="25628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C7A5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8,9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60257" y="2149153"/>
            <a:ext cx="23478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Najmočnejši v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mikro-animacijah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(9,5) in doslednosti (9,2). Zlati standard za vizualno zrelost v POS kategoriji.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42385" y="2604567"/>
            <a:ext cx="2583582" cy="892969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60257" y="278583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6702B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81331" y="280691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6460294" y="2708151"/>
            <a:ext cx="1741427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ROS NAD SI POVPREČJEM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60294" y="2958182"/>
            <a:ext cx="150804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8,0 vs slovensko 6,2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7967960" y="2818129"/>
            <a:ext cx="540134" cy="164021"/>
          </a:xfrm>
          <a:prstGeom prst="roundRect">
            <a:avLst>
              <a:gd name="adj" fmla="val 17422"/>
            </a:avLst>
          </a:prstGeom>
          <a:solidFill>
            <a:srgbClr val="86702B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957093" y="2826916"/>
            <a:ext cx="56186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8,0 / 6,2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160257" y="3134990"/>
            <a:ext cx="23478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ROS za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+1,8 točke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prekaça slovensko povprečje (EdiPlug, Racuni.com, IRIS). Tipografija in barva (8,5) vodita.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42385" y="3590404"/>
            <a:ext cx="2583582" cy="775097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60257" y="3712741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9B4A43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181331" y="373381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6460294" y="3693988"/>
            <a:ext cx="2047801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MOBILNA ŠIBKA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460294" y="3826148"/>
            <a:ext cx="175639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7,0 vs Toast 9,0</a:t>
            </a:r>
            <a:endParaRPr lang="en-US" sz="844" dirty="0"/>
          </a:p>
        </p:txBody>
      </p:sp>
      <p:sp>
        <p:nvSpPr>
          <p:cNvPr id="43" name="Text 40"/>
          <p:cNvSpPr/>
          <p:nvPr/>
        </p:nvSpPr>
        <p:spPr>
          <a:xfrm>
            <a:off x="8204485" y="3745031"/>
            <a:ext cx="303609" cy="164021"/>
          </a:xfrm>
          <a:prstGeom prst="roundRect">
            <a:avLst>
              <a:gd name="adj" fmla="val 17422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8204485" y="3753817"/>
            <a:ext cx="3036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−2,0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160257" y="4002956"/>
            <a:ext cx="23478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Mobilna izkušnja edina pod 8,0.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P0-3 (PWA, 12 tednov)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jo bo dvignil na 8,5+ in zapolnil primanjkljaj.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8 / 14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20509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CENOVNI POLOŽAJ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6220688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4× ceneje od Toast, 2× ceneje od Square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48693"/>
            <a:ext cx="6220688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TCO za 3 leta — skupni lastniški strošek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857777" y="1150813"/>
            <a:ext cx="776771" cy="200025"/>
          </a:xfrm>
          <a:prstGeom prst="roundRect">
            <a:avLst>
              <a:gd name="adj" fmla="val 476190"/>
            </a:avLst>
          </a:prstGeom>
          <a:solidFill>
            <a:srgbClr val="FFFFFF">
              <a:alpha val="60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0136" y="1161529"/>
            <a:ext cx="7920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3-LETNI TCO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691698" y="1150813"/>
            <a:ext cx="937952" cy="200025"/>
          </a:xfrm>
          <a:prstGeom prst="roundRect">
            <a:avLst>
              <a:gd name="adj" fmla="val 476190"/>
            </a:avLst>
          </a:prstGeom>
          <a:solidFill>
            <a:srgbClr val="685F46"/>
          </a:solidFill>
          <a:ln w="7144">
            <a:solidFill>
              <a:srgbClr val="685F4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91698" y="1161529"/>
            <a:ext cx="9379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 · BREZ DDV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922" y="1543720"/>
            <a:ext cx="5345869" cy="3393281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5794" y="1654448"/>
            <a:ext cx="265618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SLIKA 9.1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1761604"/>
            <a:ext cx="206009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TCO za 3 leta — primerjava 6 tekmencev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4812543" y="1647304"/>
            <a:ext cx="933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Vir: ceniki 2025 · 1 lokacija</a:t>
            </a:r>
            <a:endParaRPr lang="en-US" sz="619" dirty="0"/>
          </a:p>
        </p:txBody>
      </p:sp>
      <p:pic>
        <p:nvPicPr>
          <p:cNvPr id="13" name="Image 0" descr="/tmp/h2p-fit-1788514241641-qynj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94" y="2162882"/>
            <a:ext cx="5110125" cy="232272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5794" y="4726260"/>
            <a:ext cx="51101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VKLJUČUJE: MESEČNA LICENCA + TRANSAKCIJSKE STROŠKE + ONBOARDING · 3-LETNO OBDOBJE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038813" y="1590154"/>
            <a:ext cx="171450" cy="7144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38813" y="1540148"/>
            <a:ext cx="31051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42385" y="1736601"/>
            <a:ext cx="2583582" cy="542925"/>
          </a:xfrm>
          <a:prstGeom prst="roundRect">
            <a:avLst>
              <a:gd name="adj" fmla="val 10526"/>
            </a:avLst>
          </a:prstGeom>
          <a:solidFill>
            <a:srgbClr val="3C7A50">
              <a:alpha val="6000"/>
            </a:srgbClr>
          </a:solidFill>
          <a:ln w="7144">
            <a:solidFill>
              <a:srgbClr val="C8DCC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45969" y="1825898"/>
            <a:ext cx="2068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ROS · TCO 3 LETA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45969" y="1940198"/>
            <a:ext cx="19084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RestaurantOS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5969" y="2147367"/>
            <a:ext cx="1628329" cy="42863"/>
          </a:xfrm>
          <a:prstGeom prst="roundRect">
            <a:avLst>
              <a:gd name="adj" fmla="val 2222196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45969" y="2147367"/>
            <a:ext cx="421704" cy="42863"/>
          </a:xfrm>
          <a:prstGeom prst="roundRect">
            <a:avLst>
              <a:gd name="adj" fmla="val 2222196"/>
            </a:avLst>
          </a:prstGeom>
          <a:solidFill>
            <a:srgbClr val="3C7A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674562" y="1854473"/>
            <a:ext cx="84782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C7A5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2.200 €</a:t>
            </a:r>
            <a:endParaRPr lang="en-US" sz="1238" dirty="0"/>
          </a:p>
        </p:txBody>
      </p:sp>
      <p:sp>
        <p:nvSpPr>
          <p:cNvPr id="23" name="Text 20"/>
          <p:cNvSpPr/>
          <p:nvPr/>
        </p:nvSpPr>
        <p:spPr>
          <a:xfrm>
            <a:off x="7837163" y="2002634"/>
            <a:ext cx="708080" cy="168021"/>
          </a:xfrm>
          <a:prstGeom prst="roundRect">
            <a:avLst>
              <a:gd name="adj" fmla="val 17007"/>
            </a:avLst>
          </a:prstGeom>
          <a:solidFill>
            <a:srgbClr val="3C7A50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60023" y="2011635"/>
            <a:ext cx="6623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3C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42385" y="2372395"/>
            <a:ext cx="2583582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145969" y="2461692"/>
            <a:ext cx="2068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SQUARE · TCO 3 LETA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45969" y="2575992"/>
            <a:ext cx="19084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Square POS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45969" y="2783160"/>
            <a:ext cx="1628329" cy="42863"/>
          </a:xfrm>
          <a:prstGeom prst="roundRect">
            <a:avLst>
              <a:gd name="adj" fmla="val 2222196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45969" y="2783160"/>
            <a:ext cx="1033946" cy="42863"/>
          </a:xfrm>
          <a:prstGeom prst="roundRect">
            <a:avLst>
              <a:gd name="adj" fmla="val 2222196"/>
            </a:avLst>
          </a:prstGeom>
          <a:solidFill>
            <a:srgbClr val="685F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674562" y="2490267"/>
            <a:ext cx="84782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5.400 €</a:t>
            </a:r>
            <a:endParaRPr lang="en-US" sz="1238" dirty="0"/>
          </a:p>
        </p:txBody>
      </p:sp>
      <p:sp>
        <p:nvSpPr>
          <p:cNvPr id="31" name="Text 28"/>
          <p:cNvSpPr/>
          <p:nvPr/>
        </p:nvSpPr>
        <p:spPr>
          <a:xfrm>
            <a:off x="7837163" y="2638428"/>
            <a:ext cx="708080" cy="168021"/>
          </a:xfrm>
          <a:prstGeom prst="roundRect">
            <a:avLst>
              <a:gd name="adj" fmla="val 17007"/>
            </a:avLst>
          </a:prstGeom>
          <a:solidFill>
            <a:srgbClr val="685F4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845529" y="2647429"/>
            <a:ext cx="6913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2,5× dražje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042385" y="3008188"/>
            <a:ext cx="2583582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45969" y="3097485"/>
            <a:ext cx="2068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TOAST · TCO 3 LETA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145969" y="3211785"/>
            <a:ext cx="20842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Toast POS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45969" y="3418954"/>
            <a:ext cx="1628329" cy="42863"/>
          </a:xfrm>
          <a:prstGeom prst="roundRect">
            <a:avLst>
              <a:gd name="adj" fmla="val 2222196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145969" y="3418954"/>
            <a:ext cx="1628329" cy="42863"/>
          </a:xfrm>
          <a:prstGeom prst="roundRect">
            <a:avLst>
              <a:gd name="adj" fmla="val 2222196"/>
            </a:avLst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7674562" y="3126060"/>
            <a:ext cx="84782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8.500 €</a:t>
            </a:r>
            <a:endParaRPr lang="en-US" sz="1238" dirty="0"/>
          </a:p>
        </p:txBody>
      </p:sp>
      <p:sp>
        <p:nvSpPr>
          <p:cNvPr id="39" name="Text 36"/>
          <p:cNvSpPr/>
          <p:nvPr/>
        </p:nvSpPr>
        <p:spPr>
          <a:xfrm>
            <a:off x="7837163" y="3274222"/>
            <a:ext cx="708080" cy="168021"/>
          </a:xfrm>
          <a:prstGeom prst="roundRect">
            <a:avLst>
              <a:gd name="adj" fmla="val 17007"/>
            </a:avLst>
          </a:prstGeom>
          <a:solidFill>
            <a:srgbClr val="9B4A43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860023" y="3283223"/>
            <a:ext cx="6623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4× dražje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38813" y="3640410"/>
            <a:ext cx="2590726" cy="752549"/>
          </a:xfrm>
          <a:prstGeom prst="roundRect">
            <a:avLst>
              <a:gd name="adj" fmla="val 7594"/>
            </a:avLst>
          </a:prstGeom>
          <a:solidFill>
            <a:srgbClr val="1D1C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153113" y="3740423"/>
            <a:ext cx="236212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CENOVNA STRATEGIJA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153113" y="3890442"/>
            <a:ext cx="2362126" cy="15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ECEBE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Freemium SaaS model s treh-stopenjsko strukturo:</a:t>
            </a:r>
            <a:endParaRPr lang="en-US" sz="731" dirty="0"/>
          </a:p>
        </p:txBody>
      </p:sp>
      <p:sp>
        <p:nvSpPr>
          <p:cNvPr id="44" name="Text 41"/>
          <p:cNvSpPr/>
          <p:nvPr/>
        </p:nvSpPr>
        <p:spPr>
          <a:xfrm>
            <a:off x="6153113" y="4067919"/>
            <a:ext cx="2362126" cy="225028"/>
          </a:xfrm>
          <a:prstGeom prst="roundRect">
            <a:avLst>
              <a:gd name="adj" fmla="val 1693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153113" y="4067919"/>
            <a:ext cx="2362126" cy="225028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49 €/mes + 2,5 % + 0,10 € / transakcija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4350" y="4836319"/>
            <a:ext cx="74562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984927" y="4836319"/>
            <a:ext cx="64472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9 / 14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8797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GLAVNE VRZELI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85800"/>
            <a:ext cx="6201288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 kritične vrzeli za odpravo v 6 mesecih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48693"/>
            <a:ext cx="6201288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Glavne ovire za konkurenco Toast / Square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6857777" y="1150813"/>
            <a:ext cx="884262" cy="200025"/>
          </a:xfrm>
          <a:prstGeom prst="roundRect">
            <a:avLst>
              <a:gd name="adj" fmla="val 476190"/>
            </a:avLst>
          </a:prstGeom>
          <a:solidFill>
            <a:srgbClr val="9B4A43">
              <a:alpha val="10000"/>
            </a:srgbClr>
          </a:solidFill>
          <a:ln w="7144">
            <a:solidFill>
              <a:srgbClr val="9B4A4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7777" y="1161529"/>
            <a:ext cx="8842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 · 2 VRZELI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99189" y="1150813"/>
            <a:ext cx="830461" cy="200025"/>
          </a:xfrm>
          <a:prstGeom prst="roundRect">
            <a:avLst>
              <a:gd name="adj" fmla="val 476190"/>
            </a:avLst>
          </a:prstGeom>
          <a:solidFill>
            <a:srgbClr val="A98846">
              <a:alpha val="14000"/>
            </a:srgbClr>
          </a:solidFill>
          <a:ln w="7144">
            <a:solidFill>
              <a:srgbClr val="A9884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99189" y="1161529"/>
            <a:ext cx="83046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A988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 · 1 VRZEL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922" y="1543720"/>
            <a:ext cx="2602669" cy="3436144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494" y="1547292"/>
            <a:ext cx="2595525" cy="28575"/>
          </a:xfrm>
          <a:prstGeom prst="rect">
            <a:avLst/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4369" y="1675879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7230" y="170874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2572255" y="1664521"/>
            <a:ext cx="417347" cy="212027"/>
          </a:xfrm>
          <a:prstGeom prst="roundRect">
            <a:avLst>
              <a:gd name="adj" fmla="val 17969"/>
            </a:avLst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87712" y="1675879"/>
            <a:ext cx="3864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P0-2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4369" y="2075929"/>
            <a:ext cx="230977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VRZEL 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4369" y="2208088"/>
            <a:ext cx="23097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Plačilni gateway</a:t>
            </a:r>
            <a:endParaRPr lang="en-US" sz="1069" dirty="0"/>
          </a:p>
        </p:txBody>
      </p:sp>
      <p:sp>
        <p:nvSpPr>
          <p:cNvPr id="17" name="Shape 15"/>
          <p:cNvSpPr/>
          <p:nvPr/>
        </p:nvSpPr>
        <p:spPr>
          <a:xfrm>
            <a:off x="664369" y="2460241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64369" y="2542394"/>
            <a:ext cx="230977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4369" y="2665623"/>
            <a:ext cx="230977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Brez Stripe/SumUp integracije — 5-koračni UX flow namesto 3.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4369" y="3013881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64369" y="3096034"/>
            <a:ext cx="230977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VPLIV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4369" y="3219264"/>
            <a:ext cx="230977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Kritičen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blokira agresivno prodajo in samopostrežne scenarije.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4369" y="3553234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369" y="364788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25" name="Text 23"/>
          <p:cNvSpPr/>
          <p:nvPr/>
        </p:nvSpPr>
        <p:spPr>
          <a:xfrm>
            <a:off x="807244" y="3635387"/>
            <a:ext cx="72016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Napor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tednov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2291135" y="364788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27" name="Text 25"/>
          <p:cNvSpPr/>
          <p:nvPr/>
        </p:nvSpPr>
        <p:spPr>
          <a:xfrm>
            <a:off x="2395457" y="3635387"/>
            <a:ext cx="61724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Dec 2025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3270610" y="1543720"/>
            <a:ext cx="2602669" cy="3436144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74182" y="1547292"/>
            <a:ext cx="2595525" cy="28575"/>
          </a:xfrm>
          <a:prstGeom prst="rect">
            <a:avLst/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17057" y="1675879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49918" y="170874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5324942" y="1664521"/>
            <a:ext cx="417347" cy="212027"/>
          </a:xfrm>
          <a:prstGeom prst="roundRect">
            <a:avLst>
              <a:gd name="adj" fmla="val 17969"/>
            </a:avLst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40400" y="1675879"/>
            <a:ext cx="3864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P0-3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17057" y="2075929"/>
            <a:ext cx="2309775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VRZEL 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17057" y="2208088"/>
            <a:ext cx="2309775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Mobilna PWA aplikacija</a:t>
            </a:r>
            <a:endParaRPr lang="en-US" sz="1069" dirty="0"/>
          </a:p>
        </p:txBody>
      </p:sp>
      <p:sp>
        <p:nvSpPr>
          <p:cNvPr id="36" name="Shape 34"/>
          <p:cNvSpPr/>
          <p:nvPr/>
        </p:nvSpPr>
        <p:spPr>
          <a:xfrm>
            <a:off x="3417057" y="2460241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3417057" y="2542394"/>
            <a:ext cx="230977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17057" y="2665623"/>
            <a:ext cx="241950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Brez native / PWA — le responsivna spletna stran.</a:t>
            </a:r>
            <a:endParaRPr lang="en-US" sz="703" dirty="0"/>
          </a:p>
        </p:txBody>
      </p:sp>
      <p:sp>
        <p:nvSpPr>
          <p:cNvPr id="39" name="Shape 37"/>
          <p:cNvSpPr/>
          <p:nvPr/>
        </p:nvSpPr>
        <p:spPr>
          <a:xfrm>
            <a:off x="3417057" y="2884401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417057" y="2966554"/>
            <a:ext cx="2309775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VPLIV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17057" y="3089783"/>
            <a:ext cx="2309775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b="1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Visok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Toast in Square imata močni native aplikaciji.</a:t>
            </a:r>
            <a:endParaRPr lang="en-US" sz="703" dirty="0"/>
          </a:p>
        </p:txBody>
      </p:sp>
      <p:sp>
        <p:nvSpPr>
          <p:cNvPr id="42" name="Shape 40"/>
          <p:cNvSpPr/>
          <p:nvPr/>
        </p:nvSpPr>
        <p:spPr>
          <a:xfrm>
            <a:off x="3417057" y="3294273"/>
            <a:ext cx="2309775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7057" y="33889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44" name="Text 42"/>
          <p:cNvSpPr/>
          <p:nvPr/>
        </p:nvSpPr>
        <p:spPr>
          <a:xfrm>
            <a:off x="3559932" y="3376426"/>
            <a:ext cx="77563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Napor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tednov</a:t>
            </a:r>
            <a:endParaRPr lang="en-US" sz="619" dirty="0"/>
          </a:p>
        </p:txBody>
      </p:sp>
      <p:sp>
        <p:nvSpPr>
          <p:cNvPr id="45" name="Text 43"/>
          <p:cNvSpPr/>
          <p:nvPr/>
        </p:nvSpPr>
        <p:spPr>
          <a:xfrm>
            <a:off x="5043822" y="338892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5148145" y="3376426"/>
            <a:ext cx="61724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Jan 2026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6023297" y="1543720"/>
            <a:ext cx="2602781" cy="3436144"/>
          </a:xfrm>
          <a:prstGeom prst="roundRect">
            <a:avLst>
              <a:gd name="adj" fmla="val 2928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26869" y="1547292"/>
            <a:ext cx="2595637" cy="28575"/>
          </a:xfrm>
          <a:prstGeom prst="rect">
            <a:avLst/>
          </a:prstGeom>
          <a:solidFill>
            <a:srgbClr val="A988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169744" y="1675879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A98846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02606" y="170874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988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688" dirty="0"/>
          </a:p>
        </p:txBody>
      </p:sp>
      <p:sp>
        <p:nvSpPr>
          <p:cNvPr id="51" name="Text 49"/>
          <p:cNvSpPr/>
          <p:nvPr/>
        </p:nvSpPr>
        <p:spPr>
          <a:xfrm>
            <a:off x="8077742" y="1664521"/>
            <a:ext cx="417347" cy="212027"/>
          </a:xfrm>
          <a:prstGeom prst="roundRect">
            <a:avLst>
              <a:gd name="adj" fmla="val 17969"/>
            </a:avLst>
          </a:prstGeom>
          <a:solidFill>
            <a:srgbClr val="A988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093199" y="1675879"/>
            <a:ext cx="3864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9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P1-2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69744" y="2075929"/>
            <a:ext cx="2309887" cy="1047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01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VRZEL 03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69744" y="2208088"/>
            <a:ext cx="2309887" cy="175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KDS (Kitchen Display)</a:t>
            </a:r>
            <a:endParaRPr lang="en-US" sz="1069" dirty="0"/>
          </a:p>
        </p:txBody>
      </p:sp>
      <p:sp>
        <p:nvSpPr>
          <p:cNvPr id="55" name="Shape 53"/>
          <p:cNvSpPr/>
          <p:nvPr/>
        </p:nvSpPr>
        <p:spPr>
          <a:xfrm>
            <a:off x="6169744" y="2460241"/>
            <a:ext cx="2309887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169744" y="2542394"/>
            <a:ext cx="2309887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69744" y="2665623"/>
            <a:ext cx="230988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Brez kuhinjskega prikaza — kuhinja uporablja papirnate bone.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169744" y="3013881"/>
            <a:ext cx="2309887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6169744" y="3096034"/>
            <a:ext cx="2309887" cy="95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79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VPLIV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69744" y="3219264"/>
            <a:ext cx="2309887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b="1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Visok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standard pri Toast, Lightspeed, TouchBistro.</a:t>
            </a:r>
            <a:endParaRPr lang="en-US" sz="703" dirty="0"/>
          </a:p>
        </p:txBody>
      </p:sp>
      <p:sp>
        <p:nvSpPr>
          <p:cNvPr id="61" name="Shape 59"/>
          <p:cNvSpPr/>
          <p:nvPr/>
        </p:nvSpPr>
        <p:spPr>
          <a:xfrm>
            <a:off x="6169744" y="3423754"/>
            <a:ext cx="2309887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9744" y="35184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984" dirty="0"/>
          </a:p>
        </p:txBody>
      </p:sp>
      <p:sp>
        <p:nvSpPr>
          <p:cNvPr id="63" name="Text 61"/>
          <p:cNvSpPr/>
          <p:nvPr/>
        </p:nvSpPr>
        <p:spPr>
          <a:xfrm>
            <a:off x="6312619" y="3505907"/>
            <a:ext cx="72016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Napor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tednov</a:t>
            </a:r>
            <a:endParaRPr lang="en-US" sz="619" dirty="0"/>
          </a:p>
        </p:txBody>
      </p:sp>
      <p:sp>
        <p:nvSpPr>
          <p:cNvPr id="64" name="Text 62"/>
          <p:cNvSpPr/>
          <p:nvPr/>
        </p:nvSpPr>
        <p:spPr>
          <a:xfrm>
            <a:off x="7796622" y="351840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85F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65" name="Text 63"/>
          <p:cNvSpPr/>
          <p:nvPr/>
        </p:nvSpPr>
        <p:spPr>
          <a:xfrm>
            <a:off x="7900944" y="3505907"/>
            <a:ext cx="61724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 </a:t>
            </a:r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Feb 2026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836319"/>
            <a:ext cx="74024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931125" y="4836319"/>
            <a:ext cx="698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10 / 14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20509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· 12 MESECEV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2938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za 12 mesecev — 3 prioritete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05830"/>
            <a:ext cx="86296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P0 (kritično), P1 (visoko), P2 (srednje)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514350" y="1425848"/>
            <a:ext cx="428625" cy="21431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922" y="1550863"/>
            <a:ext cx="8108156" cy="2264569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8514247311-k0je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506" y="1625873"/>
            <a:ext cx="7900988" cy="2143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922" y="3922588"/>
            <a:ext cx="2631244" cy="1439466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1509" y="4045747"/>
            <a:ext cx="858545" cy="168021"/>
          </a:xfrm>
          <a:prstGeom prst="roundRect">
            <a:avLst>
              <a:gd name="adj" fmla="val 17007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0995" y="4054748"/>
            <a:ext cx="8795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P0 · KRITIČNO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15189" y="4070821"/>
            <a:ext cx="3965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0–3 mes.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664369" y="4261917"/>
            <a:ext cx="244807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Temelji komercializacije</a:t>
            </a:r>
            <a:endParaRPr lang="en-US" sz="844" dirty="0"/>
          </a:p>
        </p:txBody>
      </p:sp>
      <p:sp>
        <p:nvSpPr>
          <p:cNvPr id="13" name="Text 10"/>
          <p:cNvSpPr/>
          <p:nvPr/>
        </p:nvSpPr>
        <p:spPr>
          <a:xfrm>
            <a:off x="664369" y="4470157"/>
            <a:ext cx="328278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2066" y="4479801"/>
            <a:ext cx="3328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21221" y="4470157"/>
            <a:ext cx="345802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956348" y="4479801"/>
            <a:ext cx="47554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Plačila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395599" y="4470157"/>
            <a:ext cx="290438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395599" y="4479801"/>
            <a:ext cx="290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PWA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714612" y="4470157"/>
            <a:ext cx="341449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674536" y="4479801"/>
            <a:ext cx="4215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Sentry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084636" y="4470157"/>
            <a:ext cx="411324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079498" y="4479801"/>
            <a:ext cx="4215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Domena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64369" y="4715545"/>
            <a:ext cx="233835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64369" y="4776267"/>
            <a:ext cx="10222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ITEMOV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64369" y="4883423"/>
            <a:ext cx="96897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~30k EUR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2845557" y="488342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547" dirty="0"/>
          </a:p>
        </p:txBody>
      </p:sp>
      <p:sp>
        <p:nvSpPr>
          <p:cNvPr id="27" name="Text 24"/>
          <p:cNvSpPr/>
          <p:nvPr/>
        </p:nvSpPr>
        <p:spPr>
          <a:xfrm>
            <a:off x="1710243" y="4586957"/>
            <a:ext cx="1813427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685F46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75" dirty="0"/>
          </a:p>
        </p:txBody>
      </p:sp>
      <p:sp>
        <p:nvSpPr>
          <p:cNvPr id="28" name="Text 25"/>
          <p:cNvSpPr/>
          <p:nvPr/>
        </p:nvSpPr>
        <p:spPr>
          <a:xfrm>
            <a:off x="3256322" y="3922588"/>
            <a:ext cx="2631244" cy="1439466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379909" y="4045747"/>
            <a:ext cx="751054" cy="168021"/>
          </a:xfrm>
          <a:prstGeom prst="roundRect">
            <a:avLst>
              <a:gd name="adj" fmla="val 17007"/>
            </a:avLst>
          </a:prstGeom>
          <a:solidFill>
            <a:srgbClr val="A988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79790" y="4054748"/>
            <a:ext cx="751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6A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P1 · VISOKO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53590" y="4070821"/>
            <a:ext cx="3965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mes.</a:t>
            </a:r>
            <a:endParaRPr lang="en-US" sz="619" dirty="0"/>
          </a:p>
        </p:txBody>
      </p:sp>
      <p:sp>
        <p:nvSpPr>
          <p:cNvPr id="32" name="Text 29"/>
          <p:cNvSpPr/>
          <p:nvPr/>
        </p:nvSpPr>
        <p:spPr>
          <a:xfrm>
            <a:off x="3402769" y="4261917"/>
            <a:ext cx="23383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Rast &amp; konkurenčnost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3402769" y="4470157"/>
            <a:ext cx="538125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319564" y="4479801"/>
            <a:ext cx="70453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dash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969469" y="4470157"/>
            <a:ext cx="275927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969469" y="4479801"/>
            <a:ext cx="2759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KDS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273972" y="4470157"/>
            <a:ext cx="721630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4273972" y="4479801"/>
            <a:ext cx="72163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Spletne naročilne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024177" y="4470157"/>
            <a:ext cx="363327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963870" y="4479801"/>
            <a:ext cx="4839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Loyalty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402769" y="4659466"/>
            <a:ext cx="629655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302987" y="4669110"/>
            <a:ext cx="8292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system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060999" y="4659466"/>
            <a:ext cx="524842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956766" y="4669110"/>
            <a:ext cx="7333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Rezervacije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614416" y="4659466"/>
            <a:ext cx="529419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520864" y="4669110"/>
            <a:ext cx="71652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napovedi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402769" y="4904854"/>
            <a:ext cx="233835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48" name="Text 45"/>
          <p:cNvSpPr/>
          <p:nvPr/>
        </p:nvSpPr>
        <p:spPr>
          <a:xfrm>
            <a:off x="3402769" y="4965576"/>
            <a:ext cx="10222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ITEMOV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3402769" y="5072732"/>
            <a:ext cx="9689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~50k EUR</a:t>
            </a:r>
            <a:endParaRPr lang="en-US" sz="1238" dirty="0"/>
          </a:p>
        </p:txBody>
      </p:sp>
      <p:sp>
        <p:nvSpPr>
          <p:cNvPr id="50" name="Text 47"/>
          <p:cNvSpPr/>
          <p:nvPr/>
        </p:nvSpPr>
        <p:spPr>
          <a:xfrm>
            <a:off x="5583957" y="5072732"/>
            <a:ext cx="1571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988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51" name="Text 48"/>
          <p:cNvSpPr/>
          <p:nvPr/>
        </p:nvSpPr>
        <p:spPr>
          <a:xfrm>
            <a:off x="4448644" y="4586957"/>
            <a:ext cx="1813427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685F46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75" dirty="0"/>
          </a:p>
        </p:txBody>
      </p:sp>
      <p:sp>
        <p:nvSpPr>
          <p:cNvPr id="52" name="Text 49"/>
          <p:cNvSpPr/>
          <p:nvPr/>
        </p:nvSpPr>
        <p:spPr>
          <a:xfrm>
            <a:off x="5994722" y="3922588"/>
            <a:ext cx="2631356" cy="1439466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118309" y="4045747"/>
            <a:ext cx="804743" cy="168021"/>
          </a:xfrm>
          <a:prstGeom prst="roundRect">
            <a:avLst>
              <a:gd name="adj" fmla="val 17007"/>
            </a:avLst>
          </a:prstGeom>
          <a:solidFill>
            <a:srgbClr val="42699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107870" y="4054748"/>
            <a:ext cx="8256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3A5A7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 · SREDNJE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39693" y="4070821"/>
            <a:ext cx="4540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6–12 mes.</a:t>
            </a:r>
            <a:endParaRPr lang="en-US" sz="619" dirty="0"/>
          </a:p>
        </p:txBody>
      </p:sp>
      <p:sp>
        <p:nvSpPr>
          <p:cNvPr id="56" name="Text 53"/>
          <p:cNvSpPr/>
          <p:nvPr/>
        </p:nvSpPr>
        <p:spPr>
          <a:xfrm>
            <a:off x="6141169" y="4261917"/>
            <a:ext cx="233846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Širitev &amp; EU</a:t>
            </a:r>
            <a:endParaRPr lang="en-US" sz="844" dirty="0"/>
          </a:p>
        </p:txBody>
      </p:sp>
      <p:sp>
        <p:nvSpPr>
          <p:cNvPr id="57" name="Text 54"/>
          <p:cNvSpPr/>
          <p:nvPr/>
        </p:nvSpPr>
        <p:spPr>
          <a:xfrm>
            <a:off x="6141169" y="4470157"/>
            <a:ext cx="516248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041031" y="4479801"/>
            <a:ext cx="71652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napredni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6685992" y="4470157"/>
            <a:ext cx="411324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6618512" y="4479801"/>
            <a:ext cx="54628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Catering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125891" y="4470157"/>
            <a:ext cx="607777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7125891" y="4479801"/>
            <a:ext cx="60777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Multi-currency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7762242" y="4470157"/>
            <a:ext cx="507429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7653499" y="4479801"/>
            <a:ext cx="72491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White-label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141169" y="4659466"/>
            <a:ext cx="476957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012994" y="4669110"/>
            <a:ext cx="73330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Integracije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6646701" y="4659466"/>
            <a:ext cx="428848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596376" y="4669110"/>
            <a:ext cx="5294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EU davki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104125" y="4659466"/>
            <a:ext cx="490017" cy="180023"/>
          </a:xfrm>
          <a:prstGeom prst="roundRect">
            <a:avLst>
              <a:gd name="adj" fmla="val 1587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7028036" y="4669110"/>
            <a:ext cx="6421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Native app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6141169" y="4904854"/>
            <a:ext cx="2338462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72" name="Text 69"/>
          <p:cNvSpPr/>
          <p:nvPr/>
        </p:nvSpPr>
        <p:spPr>
          <a:xfrm>
            <a:off x="6141169" y="4965576"/>
            <a:ext cx="102220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ITEMOV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6141169" y="5072732"/>
            <a:ext cx="9689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~70k EUR</a:t>
            </a:r>
            <a:endParaRPr lang="en-US" sz="1238" dirty="0"/>
          </a:p>
        </p:txBody>
      </p:sp>
      <p:sp>
        <p:nvSpPr>
          <p:cNvPr id="74" name="Text 71"/>
          <p:cNvSpPr/>
          <p:nvPr/>
        </p:nvSpPr>
        <p:spPr>
          <a:xfrm>
            <a:off x="8322469" y="5072732"/>
            <a:ext cx="1571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269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75" name="Text 72"/>
          <p:cNvSpPr/>
          <p:nvPr/>
        </p:nvSpPr>
        <p:spPr>
          <a:xfrm>
            <a:off x="7187155" y="4586957"/>
            <a:ext cx="1813427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685F46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75" dirty="0"/>
          </a:p>
        </p:txBody>
      </p:sp>
      <p:sp>
        <p:nvSpPr>
          <p:cNvPr id="76" name="Shape 73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4350" y="4836319"/>
            <a:ext cx="74024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7931125" y="4836319"/>
            <a:ext cx="698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11 / 14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17940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INVESTICIJA · ROI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2938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Investicija 150k EUR, ROI v 18 mesecih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05830"/>
            <a:ext cx="86296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Cilj: 200+ slovenskih lokacij + 100 EU lokacij v 12 mesecih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514350" y="1425848"/>
            <a:ext cx="428625" cy="21431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922" y="1550863"/>
            <a:ext cx="2631244" cy="822871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683023"/>
            <a:ext cx="144071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150k</a:t>
            </a:r>
            <a:endParaRPr lang="en-US" sz="3038" dirty="0"/>
          </a:p>
        </p:txBody>
      </p:sp>
      <p:sp>
        <p:nvSpPr>
          <p:cNvPr id="8" name="Text 6"/>
          <p:cNvSpPr/>
          <p:nvPr/>
        </p:nvSpPr>
        <p:spPr>
          <a:xfrm>
            <a:off x="1636254" y="1861617"/>
            <a:ext cx="135217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678656" y="2125935"/>
            <a:ext cx="241950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Skupna investicija 12 mesecev (1.5 FTE ekipa)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256322" y="1550863"/>
            <a:ext cx="2631244" cy="822871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7057" y="1683023"/>
            <a:ext cx="1440716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200+</a:t>
            </a:r>
            <a:endParaRPr lang="en-US" sz="3038" dirty="0"/>
          </a:p>
        </p:txBody>
      </p:sp>
      <p:sp>
        <p:nvSpPr>
          <p:cNvPr id="12" name="Text 10"/>
          <p:cNvSpPr/>
          <p:nvPr/>
        </p:nvSpPr>
        <p:spPr>
          <a:xfrm>
            <a:off x="4374654" y="1904479"/>
            <a:ext cx="13521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lokacij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17057" y="2125935"/>
            <a:ext cx="241950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Slovenskih lokacij v 12 mesecih (cilj)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94722" y="1550863"/>
            <a:ext cx="2631356" cy="822871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55457" y="1683023"/>
            <a:ext cx="72044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spc="-56" kern="0" dirty="0">
                <a:solidFill>
                  <a:srgbClr val="86702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3038" dirty="0"/>
          </a:p>
        </p:txBody>
      </p:sp>
      <p:sp>
        <p:nvSpPr>
          <p:cNvPr id="16" name="Text 14"/>
          <p:cNvSpPr/>
          <p:nvPr/>
        </p:nvSpPr>
        <p:spPr>
          <a:xfrm>
            <a:off x="6662886" y="1861617"/>
            <a:ext cx="180245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mesecev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6155457" y="2125935"/>
            <a:ext cx="230988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break-even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350" y="2505894"/>
            <a:ext cx="581992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Projekcija prihodkov (49 EUR/mes/stranka)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2133" y="2516609"/>
            <a:ext cx="2273945" cy="171450"/>
          </a:xfrm>
          <a:prstGeom prst="roundRect">
            <a:avLst>
              <a:gd name="adj" fmla="val 555556"/>
            </a:avLst>
          </a:prstGeom>
          <a:solidFill>
            <a:srgbClr val="FFFFFF">
              <a:alpha val="60000"/>
            </a:srgbClr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8561" y="2513037"/>
            <a:ext cx="2281089" cy="274320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PRIHONEK · POVPREČNO 49 EUR/MES/STRANKA</a:t>
            </a:r>
            <a:endParaRPr lang="en-US" sz="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2748781"/>
          <a:ext cx="8115300" cy="914400"/>
        </p:xfrm>
        <a:graphic>
          <a:graphicData uri="http://schemas.openxmlformats.org/drawingml/2006/table">
            <a:tbl>
              <a:tblPr/>
              <a:tblGrid>
                <a:gridCol w="1498513"/>
                <a:gridCol w="1476859"/>
                <a:gridCol w="2653792"/>
                <a:gridCol w="248613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Obdobje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Stranke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Mesečni prihodek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F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Skupni prihodek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F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Mesec 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490 EUR/mes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1.470 EUR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Mesec 6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2.450 EUR/mes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14.700 EUR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Mesec 9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4.900 EUR/mes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44.100 EUR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6702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Mesec 12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702B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67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702B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67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9.800 EUR/mes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702B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67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103.000 EUR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702B">
                        <a:alpha val="12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Mesec 18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17.150 EUR/mes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D1C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206.000 EUR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14350" y="4470425"/>
            <a:ext cx="8115300" cy="469255"/>
          </a:xfrm>
          <a:prstGeom prst="roundRect">
            <a:avLst>
              <a:gd name="adj" fmla="val 12179"/>
            </a:avLst>
          </a:prstGeom>
          <a:solidFill>
            <a:srgbClr val="1D1C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7225" y="4612184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1C9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828" dirty="0"/>
          </a:p>
        </p:txBody>
      </p:sp>
      <p:sp>
        <p:nvSpPr>
          <p:cNvPr id="24" name="Text 21"/>
          <p:cNvSpPr/>
          <p:nvPr/>
        </p:nvSpPr>
        <p:spPr>
          <a:xfrm>
            <a:off x="934402" y="4591869"/>
            <a:ext cx="758485" cy="928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spc="84" kern="0" dirty="0">
                <a:solidFill>
                  <a:srgbClr val="D1C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BREAK-EVEN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2975" y="4712196"/>
            <a:ext cx="3102285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F3F2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Mesec 14 — 200 strank × 49 EUR = 9.800 EUR/mes, pokrije 1.5 FTE ekipo</a:t>
            </a:r>
            <a:endParaRPr lang="en-US" sz="731" dirty="0"/>
          </a:p>
        </p:txBody>
      </p:sp>
      <p:sp>
        <p:nvSpPr>
          <p:cNvPr id="26" name="Shape 23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350" y="4836319"/>
            <a:ext cx="74024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931125" y="4836319"/>
            <a:ext cx="698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12 / 14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228600"/>
            <a:ext cx="21366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PRIPOROČILA · Q4 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42938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 ključne akcije za naslednje 3 mesece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05830"/>
            <a:ext cx="86296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Kritične iniciative za odklepanje komercializacije</a:t>
            </a:r>
            <a:endParaRPr lang="en-US" sz="1238" dirty="0"/>
          </a:p>
        </p:txBody>
      </p:sp>
      <p:sp>
        <p:nvSpPr>
          <p:cNvPr id="5" name="Text 3"/>
          <p:cNvSpPr/>
          <p:nvPr/>
        </p:nvSpPr>
        <p:spPr>
          <a:xfrm>
            <a:off x="514350" y="1425848"/>
            <a:ext cx="428625" cy="21431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7922" y="1593726"/>
            <a:ext cx="2612157" cy="306466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97298"/>
            <a:ext cx="2605013" cy="35719"/>
          </a:xfrm>
          <a:prstGeom prst="rect">
            <a:avLst/>
          </a:prstGeom>
          <a:solidFill>
            <a:srgbClr val="9B4A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768748"/>
            <a:ext cx="207637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12" kern="0" dirty="0">
                <a:solidFill>
                  <a:srgbClr val="9B4A43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69319" y="18258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9B4A4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0" name="Text 8"/>
          <p:cNvSpPr/>
          <p:nvPr/>
        </p:nvSpPr>
        <p:spPr>
          <a:xfrm>
            <a:off x="678656" y="2283098"/>
            <a:ext cx="24004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FURS produkcijska certifikacija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78656" y="2529557"/>
            <a:ext cx="2290688" cy="54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Prenesi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.p12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certifikat od FURS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Testiraj v FURS testnem okolju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Pridobi produkcijsko dovoljenje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8656" y="3085207"/>
            <a:ext cx="2290688" cy="635794"/>
          </a:xfrm>
          <a:prstGeom prst="roundRect">
            <a:avLst>
              <a:gd name="adj" fmla="val 599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0094" y="3142357"/>
            <a:ext cx="21478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0094" y="3253085"/>
            <a:ext cx="21478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B4A4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tednov · oktober 2025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0094" y="3424535"/>
            <a:ext cx="21478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LASTNIK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0094" y="3535263"/>
            <a:ext cx="2147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Lead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8656" y="4229770"/>
            <a:ext cx="2290688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78656" y="4361929"/>
            <a:ext cx="1604888" cy="150019"/>
          </a:xfrm>
          <a:prstGeom prst="roundRect">
            <a:avLst>
              <a:gd name="adj" fmla="val 19048"/>
            </a:avLst>
          </a:prstGeom>
          <a:solidFill>
            <a:srgbClr val="9B4A43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8656" y="4361929"/>
            <a:ext cx="2290688" cy="150019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9B4A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BLOKIRA KOMERCIALIZACIJO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65810" y="1593726"/>
            <a:ext cx="2612268" cy="306466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69382" y="1597298"/>
            <a:ext cx="2605125" cy="35719"/>
          </a:xfrm>
          <a:prstGeom prst="rect">
            <a:avLst/>
          </a:prstGeom>
          <a:solidFill>
            <a:srgbClr val="A988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26544" y="1768748"/>
            <a:ext cx="2076487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12" kern="0" dirty="0">
                <a:solidFill>
                  <a:srgbClr val="A98846">
                    <a:alpha val="2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517319" y="18258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A9884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3426544" y="2283098"/>
            <a:ext cx="22908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Stripe plačilni gateway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3426544" y="2529557"/>
            <a:ext cx="2290800" cy="54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Vzpostavi Stripe račun (EU)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Implementiraj checkout API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Dodaj UI za kartična plačila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26544" y="3085207"/>
            <a:ext cx="2290800" cy="635794"/>
          </a:xfrm>
          <a:prstGeom prst="roundRect">
            <a:avLst>
              <a:gd name="adj" fmla="val 599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97982" y="3142357"/>
            <a:ext cx="21479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97982" y="3253085"/>
            <a:ext cx="21479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A6A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tednov · november 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97982" y="3424535"/>
            <a:ext cx="21479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LASTNIK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97982" y="3535263"/>
            <a:ext cx="21479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Fullstack Dev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26544" y="4229770"/>
            <a:ext cx="22908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426544" y="4361929"/>
            <a:ext cx="1558342" cy="150019"/>
          </a:xfrm>
          <a:prstGeom prst="roundRect">
            <a:avLst>
              <a:gd name="adj" fmla="val 19048"/>
            </a:avLst>
          </a:prstGeom>
          <a:solidFill>
            <a:srgbClr val="A9884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26544" y="4361929"/>
            <a:ext cx="2290800" cy="150019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6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ODPRAVI GLAVNO UX VRZEL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3810" y="1593726"/>
            <a:ext cx="2612157" cy="306466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17382" y="1597298"/>
            <a:ext cx="2605013" cy="35719"/>
          </a:xfrm>
          <a:prstGeom prst="rect">
            <a:avLst/>
          </a:prstGeom>
          <a:solidFill>
            <a:srgbClr val="4269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74544" y="1768748"/>
            <a:ext cx="2076376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12" kern="0" dirty="0">
                <a:solidFill>
                  <a:srgbClr val="426990">
                    <a:alpha val="1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8265207" y="182589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4269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969" dirty="0"/>
          </a:p>
        </p:txBody>
      </p:sp>
      <p:sp>
        <p:nvSpPr>
          <p:cNvPr id="38" name="Text 36"/>
          <p:cNvSpPr/>
          <p:nvPr/>
        </p:nvSpPr>
        <p:spPr>
          <a:xfrm>
            <a:off x="6174544" y="2283098"/>
            <a:ext cx="22906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Mobilna PWA aplikacija</a:t>
            </a:r>
            <a:endParaRPr lang="en-US" sz="1013" dirty="0"/>
          </a:p>
        </p:txBody>
      </p:sp>
      <p:sp>
        <p:nvSpPr>
          <p:cNvPr id="39" name="Text 37"/>
          <p:cNvSpPr/>
          <p:nvPr/>
        </p:nvSpPr>
        <p:spPr>
          <a:xfrm>
            <a:off x="6174544" y="2529557"/>
            <a:ext cx="2290688" cy="54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Worker za offline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IndexedDB za lokalno shranjevanje</a:t>
            </a:r>
            <a:endParaRPr lang="en-US" sz="800" dirty="0"/>
          </a:p>
          <a:p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86702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46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 notifications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74544" y="3085207"/>
            <a:ext cx="2290688" cy="635794"/>
          </a:xfrm>
          <a:prstGeom prst="roundRect">
            <a:avLst>
              <a:gd name="adj" fmla="val 5993"/>
            </a:avLst>
          </a:prstGeom>
          <a:solidFill>
            <a:srgbClr val="EEED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245982" y="3142357"/>
            <a:ext cx="21478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45982" y="3253085"/>
            <a:ext cx="214781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A5A7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tednov · december 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45982" y="3424535"/>
            <a:ext cx="214781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8" kern="0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LASTNIK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45982" y="3535263"/>
            <a:ext cx="21478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Lead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74544" y="4229770"/>
            <a:ext cx="2290688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174544" y="4361929"/>
            <a:ext cx="1558342" cy="150019"/>
          </a:xfrm>
          <a:prstGeom prst="roundRect">
            <a:avLst>
              <a:gd name="adj" fmla="val 19048"/>
            </a:avLst>
          </a:prstGeom>
          <a:solidFill>
            <a:srgbClr val="42699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74544" y="4361929"/>
            <a:ext cx="2290688" cy="150019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3A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KONKURENCA TOAST/SQUARE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4350" y="4836319"/>
            <a:ext cx="74024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RESTAURANTOS · 2025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31125" y="4836319"/>
            <a:ext cx="698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13 / 14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7147" y="428625"/>
            <a:ext cx="3626853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0"/>
              </a:lnSpc>
              <a:buNone/>
            </a:pPr>
            <a:r>
              <a:rPr lang="en-US" sz="15750" b="1" spc="-562" kern="0" dirty="0">
                <a:solidFill>
                  <a:srgbClr val="685F46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5750" dirty="0"/>
          </a:p>
        </p:txBody>
      </p:sp>
      <p:sp>
        <p:nvSpPr>
          <p:cNvPr id="3" name="Text 1"/>
          <p:cNvSpPr/>
          <p:nvPr/>
        </p:nvSpPr>
        <p:spPr>
          <a:xfrm>
            <a:off x="514350" y="228600"/>
            <a:ext cx="21250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3" kern="0" dirty="0">
                <a:solidFill>
                  <a:srgbClr val="68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ZAKLJUČEK · NASLEDNJI KORAKI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2938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28" kern="0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RestaurantOS je pripravljen za komercializacijo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105830"/>
            <a:ext cx="86296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 pravimi investicijami lahko postane vodilni POS v Sloveniji in začne EU širitev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14350" y="1425848"/>
            <a:ext cx="428625" cy="21431"/>
          </a:xfrm>
          <a:prstGeom prst="rect">
            <a:avLst/>
          </a:prstGeom>
          <a:solidFill>
            <a:srgbClr val="867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7922" y="1579438"/>
            <a:ext cx="8108156" cy="1103709"/>
          </a:xfrm>
          <a:prstGeom prst="roundRect">
            <a:avLst>
              <a:gd name="adj" fmla="val 6904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7244" y="1497285"/>
            <a:ext cx="632936" cy="982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75" b="1" dirty="0">
                <a:solidFill>
                  <a:srgbClr val="86702B">
                    <a:alpha val="18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</a:t>
            </a:r>
            <a:endParaRPr lang="en-US" sz="7875" dirty="0"/>
          </a:p>
        </p:txBody>
      </p:sp>
      <p:sp>
        <p:nvSpPr>
          <p:cNvPr id="9" name="Text 7"/>
          <p:cNvSpPr/>
          <p:nvPr/>
        </p:nvSpPr>
        <p:spPr>
          <a:xfrm>
            <a:off x="807244" y="1811610"/>
            <a:ext cx="7529513" cy="486061"/>
          </a:xfrm>
          <a:prstGeom prst="rect">
            <a:avLst/>
          </a:prstGeom>
          <a:noFill/>
          <a:ln/>
        </p:spPr>
        <p:txBody>
          <a:bodyPr wrap="square" lIns="34290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i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RestaurantOS je tehnično superior nad slovenskimi tekmeci in cenovno konkurenčen globalnim. Z implementacijo P0 prioritete v naslednjih 3 mesecih lahko v 12 mesecih postane vodilni POS v Sloveniji.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807244" y="2361679"/>
            <a:ext cx="7529513" cy="117872"/>
          </a:xfrm>
          <a:prstGeom prst="rect">
            <a:avLst/>
          </a:prstGeom>
          <a:noFill/>
          <a:ln/>
        </p:spPr>
        <p:txBody>
          <a:bodyPr wrap="none" lIns="34290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4" kern="0" dirty="0">
                <a:solidFill>
                  <a:srgbClr val="867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POVZETEK ANALIZE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922" y="2818879"/>
            <a:ext cx="2631244" cy="597061"/>
          </a:xfrm>
          <a:prstGeom prst="roundRect">
            <a:avLst>
              <a:gd name="adj" fmla="val 9572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92246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86702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797" y="294746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978694" y="2922463"/>
            <a:ext cx="155711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NASLEDNJI KORAK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8694" y="3043907"/>
            <a:ext cx="1428554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Pregled PDF poročila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78694" y="3202409"/>
            <a:ext cx="131641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 strani podrobne analize na voljo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3256322" y="2818879"/>
            <a:ext cx="2631244" cy="597061"/>
          </a:xfrm>
          <a:prstGeom prst="roundRect">
            <a:avLst>
              <a:gd name="adj" fmla="val 9572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74194" y="292246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86702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9197" y="294746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3717094" y="2922463"/>
            <a:ext cx="1919437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NASLEDNJI KORAK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17094" y="3043907"/>
            <a:ext cx="1577658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Sestanek z ekipo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17094" y="3202409"/>
            <a:ext cx="162273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Predstavitev P0 implementacijskega načrta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5994722" y="2818879"/>
            <a:ext cx="2631356" cy="597061"/>
          </a:xfrm>
          <a:prstGeom prst="roundRect">
            <a:avLst>
              <a:gd name="adj" fmla="val 9572"/>
            </a:avLst>
          </a:prstGeom>
          <a:solidFill>
            <a:srgbClr val="FFFFFF"/>
          </a:solidFill>
          <a:ln w="7144">
            <a:solidFill>
              <a:srgbClr val="D1C9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12594" y="2922463"/>
            <a:ext cx="257175" cy="257175"/>
          </a:xfrm>
          <a:prstGeom prst="roundRect">
            <a:avLst>
              <a:gd name="adj" fmla="val 22222"/>
            </a:avLst>
          </a:prstGeom>
          <a:solidFill>
            <a:srgbClr val="86702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37597" y="294746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6" dirty="0"/>
          </a:p>
        </p:txBody>
      </p:sp>
      <p:sp>
        <p:nvSpPr>
          <p:cNvPr id="26" name="Text 24"/>
          <p:cNvSpPr/>
          <p:nvPr/>
        </p:nvSpPr>
        <p:spPr>
          <a:xfrm>
            <a:off x="6455494" y="2922463"/>
            <a:ext cx="161243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NASLEDNJI KORAK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55494" y="3043907"/>
            <a:ext cx="1479312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D1C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Odobritev proračuna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55494" y="3202409"/>
            <a:ext cx="136318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150k EUR za 12 mesecev (1.5 FTE)</a:t>
            </a:r>
            <a:endParaRPr lang="en-US" sz="619" dirty="0"/>
          </a:p>
        </p:txBody>
      </p:sp>
      <p:sp>
        <p:nvSpPr>
          <p:cNvPr id="29" name="Shape 27"/>
          <p:cNvSpPr/>
          <p:nvPr/>
        </p:nvSpPr>
        <p:spPr>
          <a:xfrm>
            <a:off x="514350" y="3551672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36427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670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714375" y="3637397"/>
            <a:ext cx="134715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D1C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Kontakt: RestaurantOS Team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7906345" y="3626681"/>
            <a:ext cx="72330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i="1" dirty="0">
                <a:solidFill>
                  <a:srgbClr val="86702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Hvala za vaš čas</a:t>
            </a:r>
            <a:endParaRPr lang="en-US" sz="844" dirty="0"/>
          </a:p>
        </p:txBody>
      </p:sp>
      <p:sp>
        <p:nvSpPr>
          <p:cNvPr id="33" name="Shape 31"/>
          <p:cNvSpPr/>
          <p:nvPr/>
        </p:nvSpPr>
        <p:spPr>
          <a:xfrm>
            <a:off x="514350" y="4732734"/>
            <a:ext cx="8115300" cy="0"/>
          </a:xfrm>
          <a:prstGeom prst="line">
            <a:avLst/>
          </a:prstGeom>
          <a:noFill/>
          <a:ln w="7144">
            <a:solidFill>
              <a:srgbClr val="D1C9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350" y="4836319"/>
            <a:ext cx="7402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8A88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RESTAURANTOS · INVESTITOR PITCH · 2025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31125" y="4836319"/>
            <a:ext cx="6985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84" kern="0" dirty="0">
                <a:solidFill>
                  <a:srgbClr val="8A88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STRAN 14 / 14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2026-09-04T09:30:51Z</dcterms:created>
  <dcterms:modified xsi:type="dcterms:W3CDTF">2026-09-04T09:30:51Z</dcterms:modified>
</cp:coreProperties>
</file>